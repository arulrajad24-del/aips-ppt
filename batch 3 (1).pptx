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5" r:id="rId6"/>
    <p:sldId id="266" r:id="rId7"/>
    <p:sldId id="268" r:id="rId8"/>
    <p:sldId id="269" r:id="rId9"/>
    <p:sldId id="260" r:id="rId10"/>
    <p:sldId id="261" r:id="rId11"/>
    <p:sldId id="262" r:id="rId12"/>
    <p:sldId id="263" r:id="rId13"/>
    <p:sldId id="264"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9" d="100"/>
          <a:sy n="79" d="100"/>
        </p:scale>
        <p:origin x="850" y="7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21E839-5209-CAF1-7F5C-5FDEB94E0F6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8414E0B-8B43-9F47-50FC-CA8E25E7942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0DBD560-95B8-3D20-FAA6-6D5010B31B52}"/>
              </a:ext>
            </a:extLst>
          </p:cNvPr>
          <p:cNvSpPr>
            <a:spLocks noGrp="1"/>
          </p:cNvSpPr>
          <p:nvPr>
            <p:ph type="dt" sz="half" idx="10"/>
          </p:nvPr>
        </p:nvSpPr>
        <p:spPr/>
        <p:txBody>
          <a:bodyPr/>
          <a:lstStyle/>
          <a:p>
            <a:fld id="{1186A393-FE4B-4CC4-BE11-C616F4193B3D}" type="datetimeFigureOut">
              <a:rPr lang="en-IN" smtClean="0"/>
              <a:pPr/>
              <a:t>05-10-2026</a:t>
            </a:fld>
            <a:endParaRPr lang="en-IN"/>
          </a:p>
        </p:txBody>
      </p:sp>
      <p:sp>
        <p:nvSpPr>
          <p:cNvPr id="5" name="Footer Placeholder 4">
            <a:extLst>
              <a:ext uri="{FF2B5EF4-FFF2-40B4-BE49-F238E27FC236}">
                <a16:creationId xmlns:a16="http://schemas.microsoft.com/office/drawing/2014/main" id="{89D04906-B283-09C4-3785-78551D0DE64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B4764DF-757D-B234-A120-3348C1CBC874}"/>
              </a:ext>
            </a:extLst>
          </p:cNvPr>
          <p:cNvSpPr>
            <a:spLocks noGrp="1"/>
          </p:cNvSpPr>
          <p:nvPr>
            <p:ph type="sldNum" sz="quarter" idx="12"/>
          </p:nvPr>
        </p:nvSpPr>
        <p:spPr/>
        <p:txBody>
          <a:bodyPr/>
          <a:lstStyle/>
          <a:p>
            <a:fld id="{C92CBCC1-E381-4EC3-9FDF-C835ED498CDA}" type="slidenum">
              <a:rPr lang="en-IN" smtClean="0"/>
              <a:pPr/>
              <a:t>‹#›</a:t>
            </a:fld>
            <a:endParaRPr lang="en-IN"/>
          </a:p>
        </p:txBody>
      </p:sp>
    </p:spTree>
    <p:extLst>
      <p:ext uri="{BB962C8B-B14F-4D97-AF65-F5344CB8AC3E}">
        <p14:creationId xmlns:p14="http://schemas.microsoft.com/office/powerpoint/2010/main" val="29671989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85ADDC-2CCA-D4A5-74DF-13016794E10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9035D12-EB73-CDCD-AF63-20B5C7C1AF2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472B5F6-E1E3-CF94-1B7D-9BA199D9A15E}"/>
              </a:ext>
            </a:extLst>
          </p:cNvPr>
          <p:cNvSpPr>
            <a:spLocks noGrp="1"/>
          </p:cNvSpPr>
          <p:nvPr>
            <p:ph type="dt" sz="half" idx="10"/>
          </p:nvPr>
        </p:nvSpPr>
        <p:spPr/>
        <p:txBody>
          <a:bodyPr/>
          <a:lstStyle/>
          <a:p>
            <a:fld id="{1186A393-FE4B-4CC4-BE11-C616F4193B3D}" type="datetimeFigureOut">
              <a:rPr lang="en-IN" smtClean="0"/>
              <a:pPr/>
              <a:t>05-10-2026</a:t>
            </a:fld>
            <a:endParaRPr lang="en-IN"/>
          </a:p>
        </p:txBody>
      </p:sp>
      <p:sp>
        <p:nvSpPr>
          <p:cNvPr id="5" name="Footer Placeholder 4">
            <a:extLst>
              <a:ext uri="{FF2B5EF4-FFF2-40B4-BE49-F238E27FC236}">
                <a16:creationId xmlns:a16="http://schemas.microsoft.com/office/drawing/2014/main" id="{B07BC064-0CEC-D511-F9E8-6EEB2E1624D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3606A52-16E4-F2C0-FAD0-32C709F2614D}"/>
              </a:ext>
            </a:extLst>
          </p:cNvPr>
          <p:cNvSpPr>
            <a:spLocks noGrp="1"/>
          </p:cNvSpPr>
          <p:nvPr>
            <p:ph type="sldNum" sz="quarter" idx="12"/>
          </p:nvPr>
        </p:nvSpPr>
        <p:spPr/>
        <p:txBody>
          <a:bodyPr/>
          <a:lstStyle/>
          <a:p>
            <a:fld id="{C92CBCC1-E381-4EC3-9FDF-C835ED498CDA}" type="slidenum">
              <a:rPr lang="en-IN" smtClean="0"/>
              <a:pPr/>
              <a:t>‹#›</a:t>
            </a:fld>
            <a:endParaRPr lang="en-IN"/>
          </a:p>
        </p:txBody>
      </p:sp>
    </p:spTree>
    <p:extLst>
      <p:ext uri="{BB962C8B-B14F-4D97-AF65-F5344CB8AC3E}">
        <p14:creationId xmlns:p14="http://schemas.microsoft.com/office/powerpoint/2010/main" val="7717211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831FB9-757E-829D-DCBE-E9E8AA6487E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A31BD7D-086B-36F2-0141-7E9168827FE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FB9FAF6-202D-8944-9250-3BFC74D8B598}"/>
              </a:ext>
            </a:extLst>
          </p:cNvPr>
          <p:cNvSpPr>
            <a:spLocks noGrp="1"/>
          </p:cNvSpPr>
          <p:nvPr>
            <p:ph type="dt" sz="half" idx="10"/>
          </p:nvPr>
        </p:nvSpPr>
        <p:spPr/>
        <p:txBody>
          <a:bodyPr/>
          <a:lstStyle/>
          <a:p>
            <a:fld id="{1186A393-FE4B-4CC4-BE11-C616F4193B3D}" type="datetimeFigureOut">
              <a:rPr lang="en-IN" smtClean="0"/>
              <a:pPr/>
              <a:t>05-10-2026</a:t>
            </a:fld>
            <a:endParaRPr lang="en-IN"/>
          </a:p>
        </p:txBody>
      </p:sp>
      <p:sp>
        <p:nvSpPr>
          <p:cNvPr id="5" name="Footer Placeholder 4">
            <a:extLst>
              <a:ext uri="{FF2B5EF4-FFF2-40B4-BE49-F238E27FC236}">
                <a16:creationId xmlns:a16="http://schemas.microsoft.com/office/drawing/2014/main" id="{46DAD80A-641E-857D-70FE-9A821BE3D30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F0F9EB1-0CD8-946A-3138-2F3385DDE277}"/>
              </a:ext>
            </a:extLst>
          </p:cNvPr>
          <p:cNvSpPr>
            <a:spLocks noGrp="1"/>
          </p:cNvSpPr>
          <p:nvPr>
            <p:ph type="sldNum" sz="quarter" idx="12"/>
          </p:nvPr>
        </p:nvSpPr>
        <p:spPr/>
        <p:txBody>
          <a:bodyPr/>
          <a:lstStyle/>
          <a:p>
            <a:fld id="{C92CBCC1-E381-4EC3-9FDF-C835ED498CDA}" type="slidenum">
              <a:rPr lang="en-IN" smtClean="0"/>
              <a:pPr/>
              <a:t>‹#›</a:t>
            </a:fld>
            <a:endParaRPr lang="en-IN"/>
          </a:p>
        </p:txBody>
      </p:sp>
    </p:spTree>
    <p:extLst>
      <p:ext uri="{BB962C8B-B14F-4D97-AF65-F5344CB8AC3E}">
        <p14:creationId xmlns:p14="http://schemas.microsoft.com/office/powerpoint/2010/main" val="34138526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7F74F7-1CE8-0D53-6B3F-8A2C1A4F3FF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8D1A15E-ECD8-A8F0-8BB2-5785CA067B5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4370989-FEF6-88E8-9107-C4C60DF9029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0FB3660-9DC0-FE08-CB1F-DC37F283D848}"/>
              </a:ext>
            </a:extLst>
          </p:cNvPr>
          <p:cNvSpPr>
            <a:spLocks noGrp="1"/>
          </p:cNvSpPr>
          <p:nvPr>
            <p:ph type="dt" sz="half" idx="10"/>
          </p:nvPr>
        </p:nvSpPr>
        <p:spPr/>
        <p:txBody>
          <a:bodyPr/>
          <a:lstStyle/>
          <a:p>
            <a:fld id="{1186A393-FE4B-4CC4-BE11-C616F4193B3D}" type="datetimeFigureOut">
              <a:rPr lang="en-IN" smtClean="0"/>
              <a:pPr/>
              <a:t>05-10-2026</a:t>
            </a:fld>
            <a:endParaRPr lang="en-IN"/>
          </a:p>
        </p:txBody>
      </p:sp>
      <p:sp>
        <p:nvSpPr>
          <p:cNvPr id="6" name="Footer Placeholder 5">
            <a:extLst>
              <a:ext uri="{FF2B5EF4-FFF2-40B4-BE49-F238E27FC236}">
                <a16:creationId xmlns:a16="http://schemas.microsoft.com/office/drawing/2014/main" id="{0F9E7169-35AA-6462-32C3-686A547499A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A776169-11E3-3113-145C-B2FEBBB29265}"/>
              </a:ext>
            </a:extLst>
          </p:cNvPr>
          <p:cNvSpPr>
            <a:spLocks noGrp="1"/>
          </p:cNvSpPr>
          <p:nvPr>
            <p:ph type="sldNum" sz="quarter" idx="12"/>
          </p:nvPr>
        </p:nvSpPr>
        <p:spPr/>
        <p:txBody>
          <a:bodyPr/>
          <a:lstStyle/>
          <a:p>
            <a:fld id="{C92CBCC1-E381-4EC3-9FDF-C835ED498CDA}" type="slidenum">
              <a:rPr lang="en-IN" smtClean="0"/>
              <a:pPr/>
              <a:t>‹#›</a:t>
            </a:fld>
            <a:endParaRPr lang="en-IN"/>
          </a:p>
        </p:txBody>
      </p:sp>
    </p:spTree>
    <p:extLst>
      <p:ext uri="{BB962C8B-B14F-4D97-AF65-F5344CB8AC3E}">
        <p14:creationId xmlns:p14="http://schemas.microsoft.com/office/powerpoint/2010/main" val="18705379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CE75FA-3ECA-F71E-1389-5AAFC1DB706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BA786EB-D159-DBE1-AAB6-78BE440E9EE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829F84C-BBA8-C5D0-9C5B-6076A0AB5D2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53059B8-4FA6-86BC-7504-76354705540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8DE300A-C7EB-01B7-FCCD-D0FF80AB98C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F892B89-0FEC-D0BE-2010-A6B252B86A13}"/>
              </a:ext>
            </a:extLst>
          </p:cNvPr>
          <p:cNvSpPr>
            <a:spLocks noGrp="1"/>
          </p:cNvSpPr>
          <p:nvPr>
            <p:ph type="dt" sz="half" idx="10"/>
          </p:nvPr>
        </p:nvSpPr>
        <p:spPr/>
        <p:txBody>
          <a:bodyPr/>
          <a:lstStyle/>
          <a:p>
            <a:fld id="{1186A393-FE4B-4CC4-BE11-C616F4193B3D}" type="datetimeFigureOut">
              <a:rPr lang="en-IN" smtClean="0"/>
              <a:pPr/>
              <a:t>05-10-2026</a:t>
            </a:fld>
            <a:endParaRPr lang="en-IN"/>
          </a:p>
        </p:txBody>
      </p:sp>
      <p:sp>
        <p:nvSpPr>
          <p:cNvPr id="8" name="Footer Placeholder 7">
            <a:extLst>
              <a:ext uri="{FF2B5EF4-FFF2-40B4-BE49-F238E27FC236}">
                <a16:creationId xmlns:a16="http://schemas.microsoft.com/office/drawing/2014/main" id="{AA61018C-7EB4-11C2-0AC1-6ED229EAA3E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215ADB1-D8F1-220A-0CA2-9D9342E8A78A}"/>
              </a:ext>
            </a:extLst>
          </p:cNvPr>
          <p:cNvSpPr>
            <a:spLocks noGrp="1"/>
          </p:cNvSpPr>
          <p:nvPr>
            <p:ph type="sldNum" sz="quarter" idx="12"/>
          </p:nvPr>
        </p:nvSpPr>
        <p:spPr/>
        <p:txBody>
          <a:bodyPr/>
          <a:lstStyle/>
          <a:p>
            <a:fld id="{C92CBCC1-E381-4EC3-9FDF-C835ED498CDA}" type="slidenum">
              <a:rPr lang="en-IN" smtClean="0"/>
              <a:pPr/>
              <a:t>‹#›</a:t>
            </a:fld>
            <a:endParaRPr lang="en-IN"/>
          </a:p>
        </p:txBody>
      </p:sp>
    </p:spTree>
    <p:extLst>
      <p:ext uri="{BB962C8B-B14F-4D97-AF65-F5344CB8AC3E}">
        <p14:creationId xmlns:p14="http://schemas.microsoft.com/office/powerpoint/2010/main" val="19811016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13D2B-CDB3-6606-3EC1-8C32F717FC1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82E7ABD-EF2D-A468-7BA0-983FAA54E797}"/>
              </a:ext>
            </a:extLst>
          </p:cNvPr>
          <p:cNvSpPr>
            <a:spLocks noGrp="1"/>
          </p:cNvSpPr>
          <p:nvPr>
            <p:ph type="dt" sz="half" idx="10"/>
          </p:nvPr>
        </p:nvSpPr>
        <p:spPr/>
        <p:txBody>
          <a:bodyPr/>
          <a:lstStyle/>
          <a:p>
            <a:fld id="{1186A393-FE4B-4CC4-BE11-C616F4193B3D}" type="datetimeFigureOut">
              <a:rPr lang="en-IN" smtClean="0"/>
              <a:pPr/>
              <a:t>05-10-2026</a:t>
            </a:fld>
            <a:endParaRPr lang="en-IN"/>
          </a:p>
        </p:txBody>
      </p:sp>
      <p:sp>
        <p:nvSpPr>
          <p:cNvPr id="4" name="Footer Placeholder 3">
            <a:extLst>
              <a:ext uri="{FF2B5EF4-FFF2-40B4-BE49-F238E27FC236}">
                <a16:creationId xmlns:a16="http://schemas.microsoft.com/office/drawing/2014/main" id="{E6356017-C51A-FBC8-B583-F4C17C9EAFD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9041A84-81BF-487F-9D92-338FBDB3C6ED}"/>
              </a:ext>
            </a:extLst>
          </p:cNvPr>
          <p:cNvSpPr>
            <a:spLocks noGrp="1"/>
          </p:cNvSpPr>
          <p:nvPr>
            <p:ph type="sldNum" sz="quarter" idx="12"/>
          </p:nvPr>
        </p:nvSpPr>
        <p:spPr/>
        <p:txBody>
          <a:bodyPr/>
          <a:lstStyle/>
          <a:p>
            <a:fld id="{C92CBCC1-E381-4EC3-9FDF-C835ED498CDA}" type="slidenum">
              <a:rPr lang="en-IN" smtClean="0"/>
              <a:pPr/>
              <a:t>‹#›</a:t>
            </a:fld>
            <a:endParaRPr lang="en-IN"/>
          </a:p>
        </p:txBody>
      </p:sp>
    </p:spTree>
    <p:extLst>
      <p:ext uri="{BB962C8B-B14F-4D97-AF65-F5344CB8AC3E}">
        <p14:creationId xmlns:p14="http://schemas.microsoft.com/office/powerpoint/2010/main" val="12326031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1A11DDC-F0DC-7D00-0608-660CD0CB85DC}"/>
              </a:ext>
            </a:extLst>
          </p:cNvPr>
          <p:cNvSpPr>
            <a:spLocks noGrp="1"/>
          </p:cNvSpPr>
          <p:nvPr>
            <p:ph type="dt" sz="half" idx="10"/>
          </p:nvPr>
        </p:nvSpPr>
        <p:spPr/>
        <p:txBody>
          <a:bodyPr/>
          <a:lstStyle/>
          <a:p>
            <a:fld id="{1186A393-FE4B-4CC4-BE11-C616F4193B3D}" type="datetimeFigureOut">
              <a:rPr lang="en-IN" smtClean="0"/>
              <a:pPr/>
              <a:t>05-10-2026</a:t>
            </a:fld>
            <a:endParaRPr lang="en-IN"/>
          </a:p>
        </p:txBody>
      </p:sp>
      <p:sp>
        <p:nvSpPr>
          <p:cNvPr id="3" name="Footer Placeholder 2">
            <a:extLst>
              <a:ext uri="{FF2B5EF4-FFF2-40B4-BE49-F238E27FC236}">
                <a16:creationId xmlns:a16="http://schemas.microsoft.com/office/drawing/2014/main" id="{E6836E8F-3247-88A6-B1CF-5595E1E0EC0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3C0926B5-B945-A7A4-930A-AB74B3CCFCCE}"/>
              </a:ext>
            </a:extLst>
          </p:cNvPr>
          <p:cNvSpPr>
            <a:spLocks noGrp="1"/>
          </p:cNvSpPr>
          <p:nvPr>
            <p:ph type="sldNum" sz="quarter" idx="12"/>
          </p:nvPr>
        </p:nvSpPr>
        <p:spPr/>
        <p:txBody>
          <a:bodyPr/>
          <a:lstStyle/>
          <a:p>
            <a:fld id="{C92CBCC1-E381-4EC3-9FDF-C835ED498CDA}" type="slidenum">
              <a:rPr lang="en-IN" smtClean="0"/>
              <a:pPr/>
              <a:t>‹#›</a:t>
            </a:fld>
            <a:endParaRPr lang="en-IN"/>
          </a:p>
        </p:txBody>
      </p:sp>
    </p:spTree>
    <p:extLst>
      <p:ext uri="{BB962C8B-B14F-4D97-AF65-F5344CB8AC3E}">
        <p14:creationId xmlns:p14="http://schemas.microsoft.com/office/powerpoint/2010/main" val="7140988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D3C966-8DC5-1426-9533-8A7180DCC58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7032045-C616-DDF2-ECF8-D9FDFC3104A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B311DD3-12ED-D6F1-A52E-544B838D008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E607CF1-2664-5DC8-CCB3-114B565370D5}"/>
              </a:ext>
            </a:extLst>
          </p:cNvPr>
          <p:cNvSpPr>
            <a:spLocks noGrp="1"/>
          </p:cNvSpPr>
          <p:nvPr>
            <p:ph type="dt" sz="half" idx="10"/>
          </p:nvPr>
        </p:nvSpPr>
        <p:spPr/>
        <p:txBody>
          <a:bodyPr/>
          <a:lstStyle/>
          <a:p>
            <a:fld id="{1186A393-FE4B-4CC4-BE11-C616F4193B3D}" type="datetimeFigureOut">
              <a:rPr lang="en-IN" smtClean="0"/>
              <a:pPr/>
              <a:t>05-10-2026</a:t>
            </a:fld>
            <a:endParaRPr lang="en-IN"/>
          </a:p>
        </p:txBody>
      </p:sp>
      <p:sp>
        <p:nvSpPr>
          <p:cNvPr id="6" name="Footer Placeholder 5">
            <a:extLst>
              <a:ext uri="{FF2B5EF4-FFF2-40B4-BE49-F238E27FC236}">
                <a16:creationId xmlns:a16="http://schemas.microsoft.com/office/drawing/2014/main" id="{B0E116AA-3CD1-B774-96AF-940D1F7CBFB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C363FCA-DCDF-9C6F-9A3B-97781810A38B}"/>
              </a:ext>
            </a:extLst>
          </p:cNvPr>
          <p:cNvSpPr>
            <a:spLocks noGrp="1"/>
          </p:cNvSpPr>
          <p:nvPr>
            <p:ph type="sldNum" sz="quarter" idx="12"/>
          </p:nvPr>
        </p:nvSpPr>
        <p:spPr/>
        <p:txBody>
          <a:bodyPr/>
          <a:lstStyle/>
          <a:p>
            <a:fld id="{C92CBCC1-E381-4EC3-9FDF-C835ED498CDA}" type="slidenum">
              <a:rPr lang="en-IN" smtClean="0"/>
              <a:pPr/>
              <a:t>‹#›</a:t>
            </a:fld>
            <a:endParaRPr lang="en-IN"/>
          </a:p>
        </p:txBody>
      </p:sp>
    </p:spTree>
    <p:extLst>
      <p:ext uri="{BB962C8B-B14F-4D97-AF65-F5344CB8AC3E}">
        <p14:creationId xmlns:p14="http://schemas.microsoft.com/office/powerpoint/2010/main" val="30396136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051207-FD74-E68A-6958-6BE48F73FB3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8129C70-22BD-960D-F6B8-E8896BBD240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CE2F7E5-5264-3760-B717-109F2B66E1C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157EF99-84AF-1697-E77F-91F7AD0857DC}"/>
              </a:ext>
            </a:extLst>
          </p:cNvPr>
          <p:cNvSpPr>
            <a:spLocks noGrp="1"/>
          </p:cNvSpPr>
          <p:nvPr>
            <p:ph type="dt" sz="half" idx="10"/>
          </p:nvPr>
        </p:nvSpPr>
        <p:spPr/>
        <p:txBody>
          <a:bodyPr/>
          <a:lstStyle/>
          <a:p>
            <a:fld id="{1186A393-FE4B-4CC4-BE11-C616F4193B3D}" type="datetimeFigureOut">
              <a:rPr lang="en-IN" smtClean="0"/>
              <a:pPr/>
              <a:t>05-10-2026</a:t>
            </a:fld>
            <a:endParaRPr lang="en-IN"/>
          </a:p>
        </p:txBody>
      </p:sp>
      <p:sp>
        <p:nvSpPr>
          <p:cNvPr id="6" name="Footer Placeholder 5">
            <a:extLst>
              <a:ext uri="{FF2B5EF4-FFF2-40B4-BE49-F238E27FC236}">
                <a16:creationId xmlns:a16="http://schemas.microsoft.com/office/drawing/2014/main" id="{CE10E78F-F3A6-6587-1467-CD2BC727DD1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BE8D054-CBDE-C15E-ADE4-6FAFB00A9457}"/>
              </a:ext>
            </a:extLst>
          </p:cNvPr>
          <p:cNvSpPr>
            <a:spLocks noGrp="1"/>
          </p:cNvSpPr>
          <p:nvPr>
            <p:ph type="sldNum" sz="quarter" idx="12"/>
          </p:nvPr>
        </p:nvSpPr>
        <p:spPr/>
        <p:txBody>
          <a:bodyPr/>
          <a:lstStyle/>
          <a:p>
            <a:fld id="{C92CBCC1-E381-4EC3-9FDF-C835ED498CDA}" type="slidenum">
              <a:rPr lang="en-IN" smtClean="0"/>
              <a:pPr/>
              <a:t>‹#›</a:t>
            </a:fld>
            <a:endParaRPr lang="en-IN"/>
          </a:p>
        </p:txBody>
      </p:sp>
    </p:spTree>
    <p:extLst>
      <p:ext uri="{BB962C8B-B14F-4D97-AF65-F5344CB8AC3E}">
        <p14:creationId xmlns:p14="http://schemas.microsoft.com/office/powerpoint/2010/main" val="12047786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D336A2-9347-1038-CE46-DFC06E48D92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D58364B-5DE0-47AC-2323-08A896D6903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C69C07C-719C-CD0C-B4F3-AB33D0A33E1E}"/>
              </a:ext>
            </a:extLst>
          </p:cNvPr>
          <p:cNvSpPr>
            <a:spLocks noGrp="1"/>
          </p:cNvSpPr>
          <p:nvPr>
            <p:ph type="dt" sz="half" idx="10"/>
          </p:nvPr>
        </p:nvSpPr>
        <p:spPr/>
        <p:txBody>
          <a:bodyPr/>
          <a:lstStyle/>
          <a:p>
            <a:fld id="{1186A393-FE4B-4CC4-BE11-C616F4193B3D}" type="datetimeFigureOut">
              <a:rPr lang="en-IN" smtClean="0"/>
              <a:pPr/>
              <a:t>05-10-2026</a:t>
            </a:fld>
            <a:endParaRPr lang="en-IN"/>
          </a:p>
        </p:txBody>
      </p:sp>
      <p:sp>
        <p:nvSpPr>
          <p:cNvPr id="5" name="Footer Placeholder 4">
            <a:extLst>
              <a:ext uri="{FF2B5EF4-FFF2-40B4-BE49-F238E27FC236}">
                <a16:creationId xmlns:a16="http://schemas.microsoft.com/office/drawing/2014/main" id="{F2CCF2FE-DF91-77CE-7C7B-DCD4AF119C0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148A321-25E3-AA01-DD41-B57CF7F0099A}"/>
              </a:ext>
            </a:extLst>
          </p:cNvPr>
          <p:cNvSpPr>
            <a:spLocks noGrp="1"/>
          </p:cNvSpPr>
          <p:nvPr>
            <p:ph type="sldNum" sz="quarter" idx="12"/>
          </p:nvPr>
        </p:nvSpPr>
        <p:spPr/>
        <p:txBody>
          <a:bodyPr/>
          <a:lstStyle/>
          <a:p>
            <a:fld id="{C92CBCC1-E381-4EC3-9FDF-C835ED498CDA}" type="slidenum">
              <a:rPr lang="en-IN" smtClean="0"/>
              <a:pPr/>
              <a:t>‹#›</a:t>
            </a:fld>
            <a:endParaRPr lang="en-IN"/>
          </a:p>
        </p:txBody>
      </p:sp>
    </p:spTree>
    <p:extLst>
      <p:ext uri="{BB962C8B-B14F-4D97-AF65-F5344CB8AC3E}">
        <p14:creationId xmlns:p14="http://schemas.microsoft.com/office/powerpoint/2010/main" val="17702563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6C5D078-BB57-F7AA-A88B-DD509E8D096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3A8CC13-C0ED-9346-B491-915CE5FB8FE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D2CB7DF-0063-AA60-6E9A-4016354BB3E7}"/>
              </a:ext>
            </a:extLst>
          </p:cNvPr>
          <p:cNvSpPr>
            <a:spLocks noGrp="1"/>
          </p:cNvSpPr>
          <p:nvPr>
            <p:ph type="dt" sz="half" idx="10"/>
          </p:nvPr>
        </p:nvSpPr>
        <p:spPr/>
        <p:txBody>
          <a:bodyPr/>
          <a:lstStyle/>
          <a:p>
            <a:fld id="{1186A393-FE4B-4CC4-BE11-C616F4193B3D}" type="datetimeFigureOut">
              <a:rPr lang="en-IN" smtClean="0"/>
              <a:pPr/>
              <a:t>05-10-2026</a:t>
            </a:fld>
            <a:endParaRPr lang="en-IN"/>
          </a:p>
        </p:txBody>
      </p:sp>
      <p:sp>
        <p:nvSpPr>
          <p:cNvPr id="5" name="Footer Placeholder 4">
            <a:extLst>
              <a:ext uri="{FF2B5EF4-FFF2-40B4-BE49-F238E27FC236}">
                <a16:creationId xmlns:a16="http://schemas.microsoft.com/office/drawing/2014/main" id="{AE52C885-69AB-51FE-0A2F-7A69B356714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0AEE6C9-D550-E5C8-1F78-A2FE8EE763AD}"/>
              </a:ext>
            </a:extLst>
          </p:cNvPr>
          <p:cNvSpPr>
            <a:spLocks noGrp="1"/>
          </p:cNvSpPr>
          <p:nvPr>
            <p:ph type="sldNum" sz="quarter" idx="12"/>
          </p:nvPr>
        </p:nvSpPr>
        <p:spPr/>
        <p:txBody>
          <a:bodyPr/>
          <a:lstStyle/>
          <a:p>
            <a:fld id="{C92CBCC1-E381-4EC3-9FDF-C835ED498CDA}" type="slidenum">
              <a:rPr lang="en-IN" smtClean="0"/>
              <a:pPr/>
              <a:t>‹#›</a:t>
            </a:fld>
            <a:endParaRPr lang="en-IN"/>
          </a:p>
        </p:txBody>
      </p:sp>
    </p:spTree>
    <p:extLst>
      <p:ext uri="{BB962C8B-B14F-4D97-AF65-F5344CB8AC3E}">
        <p14:creationId xmlns:p14="http://schemas.microsoft.com/office/powerpoint/2010/main" val="13541161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AB2BE9A-A51E-DDD4-1E41-C3956D7F643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B994C81-2EEE-238F-FE6F-DC4F2A7BDB3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A9DAAB6-1F17-B5D4-66BA-D8D3B23FDF1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186A393-FE4B-4CC4-BE11-C616F4193B3D}" type="datetimeFigureOut">
              <a:rPr lang="en-IN" smtClean="0"/>
              <a:pPr/>
              <a:t>05-10-2026</a:t>
            </a:fld>
            <a:endParaRPr lang="en-IN"/>
          </a:p>
        </p:txBody>
      </p:sp>
      <p:sp>
        <p:nvSpPr>
          <p:cNvPr id="5" name="Footer Placeholder 4">
            <a:extLst>
              <a:ext uri="{FF2B5EF4-FFF2-40B4-BE49-F238E27FC236}">
                <a16:creationId xmlns:a16="http://schemas.microsoft.com/office/drawing/2014/main" id="{EAD73214-60A5-D415-EAD6-9DEEEB15264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224C8F3C-CCE8-AD65-A929-8C8871AF280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92CBCC1-E381-4EC3-9FDF-C835ED498CDA}" type="slidenum">
              <a:rPr lang="en-IN" smtClean="0"/>
              <a:pPr/>
              <a:t>‹#›</a:t>
            </a:fld>
            <a:endParaRPr lang="en-IN"/>
          </a:p>
        </p:txBody>
      </p:sp>
    </p:spTree>
    <p:extLst>
      <p:ext uri="{BB962C8B-B14F-4D97-AF65-F5344CB8AC3E}">
        <p14:creationId xmlns:p14="http://schemas.microsoft.com/office/powerpoint/2010/main" val="20236094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file:///C:\Users\Dell\Downloads\Speech_Recognition_Literature_Survey.xlsx" TargetMode="External"/><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95C857-8720-96AC-D211-880A99DC967E}"/>
              </a:ext>
            </a:extLst>
          </p:cNvPr>
          <p:cNvSpPr>
            <a:spLocks noGrp="1"/>
          </p:cNvSpPr>
          <p:nvPr>
            <p:ph type="ctrTitle"/>
          </p:nvPr>
        </p:nvSpPr>
        <p:spPr>
          <a:xfrm>
            <a:off x="1524000" y="1906672"/>
            <a:ext cx="9144000" cy="857905"/>
          </a:xfrm>
        </p:spPr>
        <p:txBody>
          <a:bodyPr>
            <a:noAutofit/>
          </a:bodyPr>
          <a:lstStyle/>
          <a:p>
            <a:r>
              <a:rPr lang="en-US" sz="4200" b="1" dirty="0">
                <a:latin typeface="Times New Roman" panose="02020603050405020304" pitchFamily="18" charset="0"/>
                <a:cs typeface="Times New Roman" panose="02020603050405020304" pitchFamily="18" charset="0"/>
              </a:rPr>
              <a:t> </a:t>
            </a:r>
            <a:r>
              <a:rPr lang="en-US" sz="3000" b="1" dirty="0">
                <a:latin typeface="Times New Roman" panose="02020603050405020304" pitchFamily="18" charset="0"/>
                <a:cs typeface="Times New Roman" panose="02020603050405020304" pitchFamily="18" charset="0"/>
              </a:rPr>
              <a:t>SPEECH RECOGNITION WITH LLMS ADAPTED TO DISORDERED SPEECH USING REINFORCEMENT LEARNING</a:t>
            </a:r>
            <a:endParaRPr lang="en-IN" sz="3000" b="1" dirty="0">
              <a:latin typeface="Times New Roman" panose="02020603050405020304" pitchFamily="18" charset="0"/>
              <a:cs typeface="Times New Roman" panose="02020603050405020304" pitchFamily="18" charset="0"/>
            </a:endParaRPr>
          </a:p>
        </p:txBody>
      </p:sp>
      <p:pic>
        <p:nvPicPr>
          <p:cNvPr id="3" name="Google Shape;289;p9"/>
          <p:cNvPicPr preferRelativeResize="0"/>
          <p:nvPr/>
        </p:nvPicPr>
        <p:blipFill rotWithShape="1">
          <a:blip r:embed="rId2">
            <a:alphaModFix/>
          </a:blip>
          <a:srcRect/>
          <a:stretch/>
        </p:blipFill>
        <p:spPr>
          <a:xfrm>
            <a:off x="658114" y="351472"/>
            <a:ext cx="1066800" cy="1057275"/>
          </a:xfrm>
          <a:prstGeom prst="rect">
            <a:avLst/>
          </a:prstGeom>
          <a:noFill/>
          <a:ln>
            <a:noFill/>
          </a:ln>
        </p:spPr>
      </p:pic>
      <p:pic>
        <p:nvPicPr>
          <p:cNvPr id="4" name="Google Shape;290;p9"/>
          <p:cNvPicPr preferRelativeResize="0"/>
          <p:nvPr/>
        </p:nvPicPr>
        <p:blipFill rotWithShape="1">
          <a:blip r:embed="rId3">
            <a:alphaModFix/>
          </a:blip>
          <a:srcRect/>
          <a:stretch/>
        </p:blipFill>
        <p:spPr>
          <a:xfrm>
            <a:off x="10336212" y="258762"/>
            <a:ext cx="1154112" cy="1103312"/>
          </a:xfrm>
          <a:prstGeom prst="rect">
            <a:avLst/>
          </a:prstGeom>
          <a:noFill/>
          <a:ln>
            <a:noFill/>
          </a:ln>
        </p:spPr>
      </p:pic>
      <p:sp>
        <p:nvSpPr>
          <p:cNvPr id="5" name="Rectangle 4"/>
          <p:cNvSpPr/>
          <p:nvPr/>
        </p:nvSpPr>
        <p:spPr>
          <a:xfrm>
            <a:off x="2846832" y="454075"/>
            <a:ext cx="6096000" cy="646331"/>
          </a:xfrm>
          <a:prstGeom prst="rect">
            <a:avLst/>
          </a:prstGeom>
        </p:spPr>
        <p:txBody>
          <a:bodyPr>
            <a:spAutoFit/>
          </a:bodyPr>
          <a:lstStyle/>
          <a:p>
            <a:pPr lvl="0" algn="ctr">
              <a:buClr>
                <a:srgbClr val="000000"/>
              </a:buClr>
              <a:buSzPts val="2000"/>
            </a:pPr>
            <a:r>
              <a:rPr lang="en-US" b="1" dirty="0">
                <a:solidFill>
                  <a:srgbClr val="FF0066"/>
                </a:solidFill>
                <a:latin typeface="Times New Roman"/>
                <a:ea typeface="Times New Roman"/>
                <a:cs typeface="Times New Roman"/>
                <a:sym typeface="Times New Roman"/>
              </a:rPr>
              <a:t>K.RAMAKRISHNAN COLLEGE OF TECHNOLOGY</a:t>
            </a:r>
            <a:endParaRPr lang="en-US" sz="1200" dirty="0">
              <a:solidFill>
                <a:srgbClr val="000000"/>
              </a:solidFill>
              <a:latin typeface="Arial"/>
              <a:ea typeface="Arial"/>
              <a:cs typeface="Arial"/>
              <a:sym typeface="Arial"/>
            </a:endParaRPr>
          </a:p>
          <a:p>
            <a:pPr lvl="0" algn="ctr">
              <a:buClr>
                <a:srgbClr val="000000"/>
              </a:buClr>
              <a:buSzPts val="2000"/>
            </a:pPr>
            <a:r>
              <a:rPr lang="en-US" b="1" dirty="0">
                <a:solidFill>
                  <a:srgbClr val="FF0066"/>
                </a:solidFill>
                <a:latin typeface="Times New Roman"/>
                <a:ea typeface="Times New Roman"/>
                <a:cs typeface="Times New Roman"/>
                <a:sym typeface="Times New Roman"/>
              </a:rPr>
              <a:t>(AUTONOMOUS), TRICHY</a:t>
            </a:r>
            <a:endParaRPr lang="en-US" dirty="0"/>
          </a:p>
        </p:txBody>
      </p:sp>
      <p:sp>
        <p:nvSpPr>
          <p:cNvPr id="6" name="Rectangle 5"/>
          <p:cNvSpPr/>
          <p:nvPr/>
        </p:nvSpPr>
        <p:spPr>
          <a:xfrm>
            <a:off x="347472" y="3355849"/>
            <a:ext cx="11503152" cy="3122906"/>
          </a:xfrm>
          <a:prstGeom prst="rect">
            <a:avLst/>
          </a:prstGeom>
        </p:spPr>
        <p:txBody>
          <a:bodyPr wrap="square">
            <a:spAutoFit/>
          </a:bodyPr>
          <a:lstStyle/>
          <a:p>
            <a:pPr lvl="0">
              <a:lnSpc>
                <a:spcPct val="170000"/>
              </a:lnSpc>
              <a:buClr>
                <a:srgbClr val="000000"/>
              </a:buClr>
              <a:buSzPts val="1800"/>
            </a:pPr>
            <a:r>
              <a:rPr lang="en-US" b="1" dirty="0">
                <a:latin typeface="Times New Roman"/>
                <a:ea typeface="Times New Roman"/>
                <a:cs typeface="Times New Roman"/>
                <a:sym typeface="Times New Roman"/>
              </a:rPr>
              <a:t>PRESENTED BY                                                                                                GUIDED BY </a:t>
            </a:r>
            <a:endParaRPr lang="en-US" sz="3200" dirty="0">
              <a:ea typeface="Calibri"/>
              <a:cs typeface="Calibri"/>
              <a:sym typeface="Calibri"/>
            </a:endParaRPr>
          </a:p>
          <a:p>
            <a:pPr lvl="0">
              <a:lnSpc>
                <a:spcPct val="170000"/>
              </a:lnSpc>
              <a:spcBef>
                <a:spcPts val="365"/>
              </a:spcBef>
              <a:buClr>
                <a:srgbClr val="000000"/>
              </a:buClr>
              <a:buSzPts val="1800"/>
            </a:pPr>
            <a:r>
              <a:rPr lang="en-US" b="1" dirty="0">
                <a:solidFill>
                  <a:srgbClr val="0C0C0C"/>
                </a:solidFill>
                <a:latin typeface="Times New Roman"/>
                <a:ea typeface="Times New Roman"/>
                <a:cs typeface="Times New Roman"/>
                <a:sym typeface="Times New Roman"/>
              </a:rPr>
              <a:t>ARULHARI S  -2403811724321009                                                               Ms. ADEEBA AAISHA F </a:t>
            </a:r>
          </a:p>
          <a:p>
            <a:pPr lvl="0">
              <a:lnSpc>
                <a:spcPct val="170000"/>
              </a:lnSpc>
              <a:spcBef>
                <a:spcPts val="365"/>
              </a:spcBef>
              <a:buClr>
                <a:srgbClr val="000000"/>
              </a:buClr>
              <a:buSzPts val="1800"/>
            </a:pPr>
            <a:r>
              <a:rPr lang="en-US" b="1" dirty="0">
                <a:solidFill>
                  <a:srgbClr val="0C0C0C"/>
                </a:solidFill>
                <a:latin typeface="Times New Roman"/>
                <a:ea typeface="Times New Roman"/>
                <a:cs typeface="Times New Roman"/>
                <a:sym typeface="Times New Roman"/>
              </a:rPr>
              <a:t>ARULRAJ D  -2403811724321010                                                                          TA /AIDS</a:t>
            </a:r>
          </a:p>
          <a:p>
            <a:pPr lvl="0">
              <a:lnSpc>
                <a:spcPct val="170000"/>
              </a:lnSpc>
              <a:spcBef>
                <a:spcPts val="365"/>
              </a:spcBef>
              <a:buClr>
                <a:srgbClr val="000000"/>
              </a:buClr>
              <a:buSzPts val="1800"/>
            </a:pPr>
            <a:r>
              <a:rPr lang="en-US" b="1" dirty="0">
                <a:solidFill>
                  <a:srgbClr val="0C0C0C"/>
                </a:solidFill>
                <a:latin typeface="Times New Roman"/>
                <a:ea typeface="Times New Roman"/>
                <a:cs typeface="Times New Roman"/>
                <a:sym typeface="Times New Roman"/>
              </a:rPr>
              <a:t>ASWATHI S - 2403811724322011</a:t>
            </a:r>
          </a:p>
          <a:p>
            <a:pPr lvl="0">
              <a:lnSpc>
                <a:spcPct val="170000"/>
              </a:lnSpc>
              <a:spcBef>
                <a:spcPts val="365"/>
              </a:spcBef>
              <a:buClr>
                <a:srgbClr val="000000"/>
              </a:buClr>
              <a:buSzPts val="1800"/>
            </a:pPr>
            <a:r>
              <a:rPr lang="en-US" b="1" dirty="0">
                <a:solidFill>
                  <a:srgbClr val="0C0C0C"/>
                </a:solidFill>
                <a:latin typeface="Times New Roman"/>
                <a:ea typeface="Times New Roman"/>
                <a:cs typeface="Times New Roman"/>
                <a:sym typeface="Times New Roman"/>
              </a:rPr>
              <a:t>ATHIQUR RAHMAN M H- 2403811724321012                      </a:t>
            </a:r>
            <a:r>
              <a:rPr lang="en-US" b="1" dirty="0">
                <a:solidFill>
                  <a:srgbClr val="0000FF"/>
                </a:solidFill>
                <a:latin typeface="Times New Roman"/>
                <a:ea typeface="Times New Roman"/>
                <a:cs typeface="Times New Roman"/>
                <a:sym typeface="Times New Roman"/>
              </a:rPr>
              <a:t>																	</a:t>
            </a:r>
            <a:endParaRPr lang="en-US" sz="3200" dirty="0">
              <a:solidFill>
                <a:srgbClr val="000000"/>
              </a:solidFill>
              <a:ea typeface="Calibri"/>
              <a:cs typeface="Calibri"/>
              <a:sym typeface="Calibri"/>
            </a:endParaRPr>
          </a:p>
        </p:txBody>
      </p:sp>
    </p:spTree>
    <p:extLst>
      <p:ext uri="{BB962C8B-B14F-4D97-AF65-F5344CB8AC3E}">
        <p14:creationId xmlns:p14="http://schemas.microsoft.com/office/powerpoint/2010/main" val="26637577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E11A1B-DF4C-9F1D-3F77-03401D5FD3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61DF2E-97D2-036C-F805-6DF3B209C06C}"/>
              </a:ext>
            </a:extLst>
          </p:cNvPr>
          <p:cNvSpPr>
            <a:spLocks noGrp="1"/>
          </p:cNvSpPr>
          <p:nvPr>
            <p:ph type="ctrTitle"/>
          </p:nvPr>
        </p:nvSpPr>
        <p:spPr>
          <a:xfrm>
            <a:off x="3999053" y="269176"/>
            <a:ext cx="4193894" cy="778337"/>
          </a:xfrm>
        </p:spPr>
        <p:txBody>
          <a:bodyPr>
            <a:noAutofit/>
          </a:bodyPr>
          <a:lstStyle/>
          <a:p>
            <a:r>
              <a:rPr lang="en-IN" sz="4400" b="1" dirty="0">
                <a:latin typeface="Times New Roman" panose="02020603050405020304" pitchFamily="18" charset="0"/>
                <a:cs typeface="Times New Roman" panose="02020603050405020304" pitchFamily="18" charset="0"/>
              </a:rPr>
              <a:t>ABSTRACT</a:t>
            </a:r>
            <a:endParaRPr lang="en-IN" sz="4200" b="1"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3166061B-4031-5BF5-E3DC-9F9EDBEDEB20}"/>
              </a:ext>
            </a:extLst>
          </p:cNvPr>
          <p:cNvSpPr txBox="1"/>
          <p:nvPr/>
        </p:nvSpPr>
        <p:spPr>
          <a:xfrm>
            <a:off x="972273" y="1333923"/>
            <a:ext cx="10311812" cy="4457952"/>
          </a:xfrm>
          <a:prstGeom prst="rect">
            <a:avLst/>
          </a:prstGeom>
          <a:noFill/>
        </p:spPr>
        <p:txBody>
          <a:bodyPr wrap="square" rtlCol="0">
            <a:spAutoFit/>
          </a:bodyPr>
          <a:lstStyle/>
          <a:p>
            <a:pPr marL="342900" indent="-34290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Automatic Speech Recognition (ASR) helps convert human speech into text. However, recognizing speech from people with speech impairments is difficult for traditional systems. This project uses a Large Language Model (LLM) to improve speech recognition by converting audio into tokens. The system is trained using fine-tuning and Reinforcement Learning from Human Feedback (RLHF). Word Error Rate (WER) and Meaning Preservation (MP) are used to evaluate the system. The proposed method aims to produce more accurate transcripts while preserving the original meaning of disordered speech.</a:t>
            </a:r>
          </a:p>
        </p:txBody>
      </p:sp>
      <p:pic>
        <p:nvPicPr>
          <p:cNvPr id="5" name="Google Shape;289;p9"/>
          <p:cNvPicPr preferRelativeResize="0"/>
          <p:nvPr/>
        </p:nvPicPr>
        <p:blipFill rotWithShape="1">
          <a:blip r:embed="rId2">
            <a:alphaModFix/>
          </a:blip>
          <a:srcRect/>
          <a:stretch/>
        </p:blipFill>
        <p:spPr>
          <a:xfrm>
            <a:off x="667258" y="269176"/>
            <a:ext cx="1066800" cy="1057275"/>
          </a:xfrm>
          <a:prstGeom prst="rect">
            <a:avLst/>
          </a:prstGeom>
          <a:noFill/>
          <a:ln>
            <a:noFill/>
          </a:ln>
        </p:spPr>
      </p:pic>
      <p:pic>
        <p:nvPicPr>
          <p:cNvPr id="6" name="Google Shape;290;p9"/>
          <p:cNvPicPr preferRelativeResize="0"/>
          <p:nvPr/>
        </p:nvPicPr>
        <p:blipFill rotWithShape="1">
          <a:blip r:embed="rId3">
            <a:alphaModFix/>
          </a:blip>
          <a:srcRect/>
          <a:stretch/>
        </p:blipFill>
        <p:spPr>
          <a:xfrm>
            <a:off x="10336212" y="258762"/>
            <a:ext cx="1154112" cy="1103312"/>
          </a:xfrm>
          <a:prstGeom prst="rect">
            <a:avLst/>
          </a:prstGeom>
          <a:noFill/>
          <a:ln>
            <a:noFill/>
          </a:ln>
        </p:spPr>
      </p:pic>
    </p:spTree>
    <p:extLst>
      <p:ext uri="{BB962C8B-B14F-4D97-AF65-F5344CB8AC3E}">
        <p14:creationId xmlns:p14="http://schemas.microsoft.com/office/powerpoint/2010/main" val="19871742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C92FA5-B4C5-83CB-F3A5-E0EEAD39B0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1B8EB8-70BF-3CE9-9739-EF980152F3E5}"/>
              </a:ext>
            </a:extLst>
          </p:cNvPr>
          <p:cNvSpPr>
            <a:spLocks noGrp="1"/>
          </p:cNvSpPr>
          <p:nvPr>
            <p:ph type="ctrTitle"/>
          </p:nvPr>
        </p:nvSpPr>
        <p:spPr>
          <a:xfrm>
            <a:off x="3942760" y="571140"/>
            <a:ext cx="4193894" cy="778337"/>
          </a:xfrm>
        </p:spPr>
        <p:txBody>
          <a:bodyPr>
            <a:noAutofit/>
          </a:bodyPr>
          <a:lstStyle/>
          <a:p>
            <a:r>
              <a:rPr lang="en-IN" sz="4200" b="1" dirty="0">
                <a:latin typeface="Times New Roman" panose="02020603050405020304" pitchFamily="18" charset="0"/>
                <a:cs typeface="Times New Roman" panose="02020603050405020304" pitchFamily="18" charset="0"/>
              </a:rPr>
              <a:t>OBJECTIVE</a:t>
            </a:r>
          </a:p>
        </p:txBody>
      </p:sp>
      <p:sp>
        <p:nvSpPr>
          <p:cNvPr id="6" name="TextBox 5">
            <a:extLst>
              <a:ext uri="{FF2B5EF4-FFF2-40B4-BE49-F238E27FC236}">
                <a16:creationId xmlns:a16="http://schemas.microsoft.com/office/drawing/2014/main" id="{0E7137AE-2219-477D-1923-7E6565ACA945}"/>
              </a:ext>
            </a:extLst>
          </p:cNvPr>
          <p:cNvSpPr txBox="1"/>
          <p:nvPr/>
        </p:nvSpPr>
        <p:spPr>
          <a:xfrm>
            <a:off x="1175200" y="1977104"/>
            <a:ext cx="7433780" cy="3349956"/>
          </a:xfrm>
          <a:prstGeom prst="rect">
            <a:avLst/>
          </a:prstGeom>
          <a:noFill/>
        </p:spPr>
        <p:txBody>
          <a:bodyPr wrap="square">
            <a:spAutoFit/>
          </a:bodyPr>
          <a:lstStyle/>
          <a:p>
            <a:pPr marL="342900" lvl="0" indent="-342900">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Enable LLM-based speech recognition. </a:t>
            </a:r>
          </a:p>
          <a:p>
            <a:pPr marL="342900" lvl="0" indent="-342900">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Convert speech into audio tokens. </a:t>
            </a:r>
          </a:p>
          <a:p>
            <a:pPr marL="342900" lvl="0" indent="-342900">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Improve recognition of disordered speech. </a:t>
            </a:r>
          </a:p>
          <a:p>
            <a:pPr marL="342900" lvl="0" indent="-342900">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Preserve speech meaning during transcription. </a:t>
            </a:r>
          </a:p>
          <a:p>
            <a:pPr marL="342900" lvl="0" indent="-342900">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Compare fine-tuning and RLHF methods. </a:t>
            </a:r>
          </a:p>
          <a:p>
            <a:pPr algn="just">
              <a:lnSpc>
                <a:spcPct val="150000"/>
              </a:lnSpc>
            </a:pPr>
            <a:endParaRPr lang="en-IN" sz="2400" dirty="0">
              <a:latin typeface="Times New Roman" panose="02020603050405020304" pitchFamily="18" charset="0"/>
              <a:cs typeface="Times New Roman" panose="02020603050405020304" pitchFamily="18" charset="0"/>
            </a:endParaRPr>
          </a:p>
        </p:txBody>
      </p:sp>
      <p:pic>
        <p:nvPicPr>
          <p:cNvPr id="4" name="Google Shape;289;p9"/>
          <p:cNvPicPr preferRelativeResize="0"/>
          <p:nvPr/>
        </p:nvPicPr>
        <p:blipFill rotWithShape="1">
          <a:blip r:embed="rId2">
            <a:alphaModFix/>
          </a:blip>
          <a:srcRect/>
          <a:stretch/>
        </p:blipFill>
        <p:spPr>
          <a:xfrm>
            <a:off x="676402" y="442912"/>
            <a:ext cx="1066800" cy="1057275"/>
          </a:xfrm>
          <a:prstGeom prst="rect">
            <a:avLst/>
          </a:prstGeom>
          <a:noFill/>
          <a:ln>
            <a:noFill/>
          </a:ln>
        </p:spPr>
      </p:pic>
      <p:pic>
        <p:nvPicPr>
          <p:cNvPr id="5" name="Google Shape;290;p9"/>
          <p:cNvPicPr preferRelativeResize="0"/>
          <p:nvPr/>
        </p:nvPicPr>
        <p:blipFill rotWithShape="1">
          <a:blip r:embed="rId3">
            <a:alphaModFix/>
          </a:blip>
          <a:srcRect/>
          <a:stretch/>
        </p:blipFill>
        <p:spPr>
          <a:xfrm>
            <a:off x="10336212" y="258762"/>
            <a:ext cx="1154112" cy="1103312"/>
          </a:xfrm>
          <a:prstGeom prst="rect">
            <a:avLst/>
          </a:prstGeom>
          <a:noFill/>
          <a:ln>
            <a:noFill/>
          </a:ln>
        </p:spPr>
      </p:pic>
    </p:spTree>
    <p:extLst>
      <p:ext uri="{BB962C8B-B14F-4D97-AF65-F5344CB8AC3E}">
        <p14:creationId xmlns:p14="http://schemas.microsoft.com/office/powerpoint/2010/main" val="39342887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E3D6AB-6668-AE60-BC64-6EA495E26C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23A4EC-326B-18DF-5A90-F0FA5A17FD62}"/>
              </a:ext>
            </a:extLst>
          </p:cNvPr>
          <p:cNvSpPr>
            <a:spLocks noGrp="1"/>
          </p:cNvSpPr>
          <p:nvPr>
            <p:ph type="ctrTitle"/>
          </p:nvPr>
        </p:nvSpPr>
        <p:spPr>
          <a:xfrm>
            <a:off x="2306255" y="0"/>
            <a:ext cx="7579489" cy="778337"/>
          </a:xfrm>
        </p:spPr>
        <p:txBody>
          <a:bodyPr>
            <a:noAutofit/>
          </a:bodyPr>
          <a:lstStyle/>
          <a:p>
            <a:r>
              <a:rPr lang="en-IN" sz="4200" b="1" dirty="0">
                <a:latin typeface="Times New Roman" panose="02020603050405020304" pitchFamily="18" charset="0"/>
                <a:cs typeface="Times New Roman" panose="02020603050405020304" pitchFamily="18" charset="0"/>
              </a:rPr>
              <a:t>ARCHITECTURE DIAGRAM</a:t>
            </a:r>
          </a:p>
        </p:txBody>
      </p:sp>
      <p:pic>
        <p:nvPicPr>
          <p:cNvPr id="5" name="Google Shape;289;p9"/>
          <p:cNvPicPr preferRelativeResize="0"/>
          <p:nvPr/>
        </p:nvPicPr>
        <p:blipFill rotWithShape="1">
          <a:blip r:embed="rId2">
            <a:alphaModFix/>
          </a:blip>
          <a:srcRect/>
          <a:stretch/>
        </p:blipFill>
        <p:spPr>
          <a:xfrm>
            <a:off x="712978" y="296608"/>
            <a:ext cx="1066800" cy="1057275"/>
          </a:xfrm>
          <a:prstGeom prst="rect">
            <a:avLst/>
          </a:prstGeom>
          <a:noFill/>
          <a:ln>
            <a:noFill/>
          </a:ln>
        </p:spPr>
      </p:pic>
      <p:pic>
        <p:nvPicPr>
          <p:cNvPr id="6" name="Google Shape;290;p9"/>
          <p:cNvPicPr preferRelativeResize="0"/>
          <p:nvPr/>
        </p:nvPicPr>
        <p:blipFill rotWithShape="1">
          <a:blip r:embed="rId3">
            <a:alphaModFix/>
          </a:blip>
          <a:srcRect/>
          <a:stretch/>
        </p:blipFill>
        <p:spPr>
          <a:xfrm>
            <a:off x="10336212" y="258762"/>
            <a:ext cx="1154112" cy="1103312"/>
          </a:xfrm>
          <a:prstGeom prst="rect">
            <a:avLst/>
          </a:prstGeom>
          <a:noFill/>
          <a:ln>
            <a:noFill/>
          </a:ln>
        </p:spPr>
      </p:pic>
      <p:pic>
        <p:nvPicPr>
          <p:cNvPr id="7" name="Picture 6">
            <a:extLst>
              <a:ext uri="{FF2B5EF4-FFF2-40B4-BE49-F238E27FC236}">
                <a16:creationId xmlns:a16="http://schemas.microsoft.com/office/drawing/2014/main" id="{F9CC5608-AC6C-ADE4-C07F-52CC2561D2D6}"/>
              </a:ext>
            </a:extLst>
          </p:cNvPr>
          <p:cNvPicPr>
            <a:picLocks noChangeAspect="1"/>
          </p:cNvPicPr>
          <p:nvPr/>
        </p:nvPicPr>
        <p:blipFill>
          <a:blip r:embed="rId4"/>
          <a:stretch>
            <a:fillRect/>
          </a:stretch>
        </p:blipFill>
        <p:spPr>
          <a:xfrm>
            <a:off x="2381410" y="1741251"/>
            <a:ext cx="7504334" cy="4484451"/>
          </a:xfrm>
          <a:prstGeom prst="rect">
            <a:avLst/>
          </a:prstGeom>
        </p:spPr>
      </p:pic>
    </p:spTree>
    <p:extLst>
      <p:ext uri="{BB962C8B-B14F-4D97-AF65-F5344CB8AC3E}">
        <p14:creationId xmlns:p14="http://schemas.microsoft.com/office/powerpoint/2010/main" val="38073283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itchFamily="18" charset="0"/>
                <a:cs typeface="Times New Roman" pitchFamily="18" charset="0"/>
              </a:rPr>
              <a:t>      LITERATURE SURVEY</a:t>
            </a:r>
            <a:br>
              <a:rPr lang="en-US" b="1" dirty="0">
                <a:latin typeface="Times New Roman" pitchFamily="18" charset="0"/>
                <a:cs typeface="Times New Roman" pitchFamily="18" charset="0"/>
              </a:rPr>
            </a:br>
            <a:endParaRPr lang="en-US" b="1" dirty="0">
              <a:latin typeface="Times New Roman" pitchFamily="18" charset="0"/>
              <a:cs typeface="Times New Roman" pitchFamily="18" charset="0"/>
            </a:endParaRPr>
          </a:p>
        </p:txBody>
      </p:sp>
      <p:sp>
        <p:nvSpPr>
          <p:cNvPr id="3" name="Content Placeholder 2"/>
          <p:cNvSpPr>
            <a:spLocks noGrp="1"/>
          </p:cNvSpPr>
          <p:nvPr>
            <p:ph idx="1"/>
          </p:nvPr>
        </p:nvSpPr>
        <p:spPr/>
        <p:txBody>
          <a:bodyPr/>
          <a:lstStyle/>
          <a:p>
            <a:pPr>
              <a:buNone/>
            </a:pPr>
            <a:r>
              <a:rPr lang="en-US" dirty="0">
                <a:hlinkClick r:id="rId2" action="ppaction://hlinkfile"/>
              </a:rPr>
              <a:t>"Speech_Recognition_Literature_Survey.xlsx"</a:t>
            </a:r>
            <a:endParaRPr lang="en-US" dirty="0"/>
          </a:p>
        </p:txBody>
      </p:sp>
      <p:pic>
        <p:nvPicPr>
          <p:cNvPr id="4" name="Google Shape;289;p9"/>
          <p:cNvPicPr preferRelativeResize="0"/>
          <p:nvPr/>
        </p:nvPicPr>
        <p:blipFill rotWithShape="1">
          <a:blip r:embed="rId3">
            <a:alphaModFix/>
          </a:blip>
          <a:srcRect/>
          <a:stretch/>
        </p:blipFill>
        <p:spPr>
          <a:xfrm>
            <a:off x="392938" y="388048"/>
            <a:ext cx="1066800" cy="1057275"/>
          </a:xfrm>
          <a:prstGeom prst="rect">
            <a:avLst/>
          </a:prstGeom>
          <a:noFill/>
          <a:ln>
            <a:noFill/>
          </a:ln>
        </p:spPr>
      </p:pic>
      <p:pic>
        <p:nvPicPr>
          <p:cNvPr id="5" name="Google Shape;290;p9"/>
          <p:cNvPicPr preferRelativeResize="0"/>
          <p:nvPr/>
        </p:nvPicPr>
        <p:blipFill rotWithShape="1">
          <a:blip r:embed="rId4">
            <a:alphaModFix/>
          </a:blip>
          <a:srcRect/>
          <a:stretch/>
        </p:blipFill>
        <p:spPr>
          <a:xfrm>
            <a:off x="10336212" y="258762"/>
            <a:ext cx="1154112" cy="1103312"/>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75104" y="365125"/>
            <a:ext cx="9378696" cy="1325563"/>
          </a:xfrm>
        </p:spPr>
        <p:txBody>
          <a:bodyPr/>
          <a:lstStyle/>
          <a:p>
            <a:r>
              <a:rPr lang="en-US" b="1" dirty="0">
                <a:latin typeface="Times New Roman" pitchFamily="18" charset="0"/>
                <a:cs typeface="Times New Roman" pitchFamily="18" charset="0"/>
              </a:rPr>
              <a:t>RESEARCH METHODOLOGY</a:t>
            </a:r>
          </a:p>
        </p:txBody>
      </p:sp>
      <p:sp>
        <p:nvSpPr>
          <p:cNvPr id="3" name="Content Placeholder 2"/>
          <p:cNvSpPr>
            <a:spLocks noGrp="1"/>
          </p:cNvSpPr>
          <p:nvPr>
            <p:ph idx="1"/>
          </p:nvPr>
        </p:nvSpPr>
        <p:spPr>
          <a:xfrm>
            <a:off x="1081391" y="1868100"/>
            <a:ext cx="10515600" cy="3997679"/>
          </a:xfrm>
        </p:spPr>
        <p:txBody>
          <a:bodyPr>
            <a:normAutofit/>
          </a:bodyPr>
          <a:lstStyle/>
          <a:p>
            <a:pPr marL="0" indent="0">
              <a:buNone/>
            </a:pPr>
            <a:r>
              <a:rPr lang="en-IN" sz="2400" b="1" dirty="0">
                <a:latin typeface="Times New Roman" panose="02020603050405020304" pitchFamily="18" charset="0"/>
                <a:cs typeface="Times New Roman" panose="02020603050405020304" pitchFamily="18" charset="0"/>
              </a:rPr>
              <a:t>Module 1: Speech Input Acquisition</a:t>
            </a:r>
          </a:p>
          <a:p>
            <a:pPr lvl="0"/>
            <a:r>
              <a:rPr lang="en-IN" sz="2400" dirty="0">
                <a:latin typeface="Times New Roman" panose="02020603050405020304" pitchFamily="18" charset="0"/>
                <a:cs typeface="Times New Roman" panose="02020603050405020304" pitchFamily="18" charset="0"/>
              </a:rPr>
              <a:t>Collect speech from users. </a:t>
            </a:r>
          </a:p>
          <a:p>
            <a:pPr lvl="0"/>
            <a:r>
              <a:rPr lang="en-IN" sz="2400" dirty="0">
                <a:latin typeface="Times New Roman" panose="02020603050405020304" pitchFamily="18" charset="0"/>
                <a:cs typeface="Times New Roman" panose="02020603050405020304" pitchFamily="18" charset="0"/>
              </a:rPr>
              <a:t>Accept both normal and disordered speech. </a:t>
            </a:r>
          </a:p>
          <a:p>
            <a:pPr lvl="0"/>
            <a:r>
              <a:rPr lang="en-IN" sz="2400" dirty="0">
                <a:latin typeface="Times New Roman" panose="02020603050405020304" pitchFamily="18" charset="0"/>
                <a:cs typeface="Times New Roman" panose="02020603050405020304" pitchFamily="18" charset="0"/>
              </a:rPr>
              <a:t>Perform basic preprocessing and noise reduction. </a:t>
            </a:r>
          </a:p>
          <a:p>
            <a:pPr marL="0" indent="0">
              <a:buNone/>
            </a:pPr>
            <a:r>
              <a:rPr lang="en-IN" sz="2400" b="1" dirty="0">
                <a:latin typeface="Times New Roman" panose="02020603050405020304" pitchFamily="18" charset="0"/>
                <a:cs typeface="Times New Roman" panose="02020603050405020304" pitchFamily="18" charset="0"/>
              </a:rPr>
              <a:t>Module 2: Audio Token Generation</a:t>
            </a:r>
          </a:p>
          <a:p>
            <a:pPr lvl="0"/>
            <a:r>
              <a:rPr lang="en-IN" sz="2400" dirty="0">
                <a:latin typeface="Times New Roman" panose="02020603050405020304" pitchFamily="18" charset="0"/>
                <a:cs typeface="Times New Roman" panose="02020603050405020304" pitchFamily="18" charset="0"/>
              </a:rPr>
              <a:t>Process the audio signal. </a:t>
            </a:r>
          </a:p>
          <a:p>
            <a:pPr lvl="0"/>
            <a:r>
              <a:rPr lang="en-IN" sz="2400" dirty="0">
                <a:latin typeface="Times New Roman" panose="02020603050405020304" pitchFamily="18" charset="0"/>
                <a:cs typeface="Times New Roman" panose="02020603050405020304" pitchFamily="18" charset="0"/>
              </a:rPr>
              <a:t>Convert speech waveform into audio tokens. </a:t>
            </a:r>
          </a:p>
          <a:p>
            <a:pPr lvl="0"/>
            <a:r>
              <a:rPr lang="en-IN" sz="2400" dirty="0">
                <a:latin typeface="Times New Roman" panose="02020603050405020304" pitchFamily="18" charset="0"/>
                <a:cs typeface="Times New Roman" panose="02020603050405020304" pitchFamily="18" charset="0"/>
              </a:rPr>
              <a:t>Prepare token sequences for the LLM. </a:t>
            </a:r>
          </a:p>
          <a:p>
            <a:pPr>
              <a:lnSpc>
                <a:spcPct val="150000"/>
              </a:lnSpc>
              <a:buNone/>
            </a:pPr>
            <a:endParaRPr lang="en-US" dirty="0"/>
          </a:p>
        </p:txBody>
      </p:sp>
      <p:pic>
        <p:nvPicPr>
          <p:cNvPr id="4" name="Google Shape;289;p9"/>
          <p:cNvPicPr preferRelativeResize="0"/>
          <p:nvPr/>
        </p:nvPicPr>
        <p:blipFill rotWithShape="1">
          <a:blip r:embed="rId2">
            <a:alphaModFix/>
          </a:blip>
          <a:srcRect/>
          <a:stretch/>
        </p:blipFill>
        <p:spPr>
          <a:xfrm>
            <a:off x="402082" y="342328"/>
            <a:ext cx="1066800" cy="1057275"/>
          </a:xfrm>
          <a:prstGeom prst="rect">
            <a:avLst/>
          </a:prstGeom>
          <a:noFill/>
          <a:ln>
            <a:noFill/>
          </a:ln>
        </p:spPr>
      </p:pic>
      <p:pic>
        <p:nvPicPr>
          <p:cNvPr id="5" name="Google Shape;290;p9"/>
          <p:cNvPicPr preferRelativeResize="0"/>
          <p:nvPr/>
        </p:nvPicPr>
        <p:blipFill rotWithShape="1">
          <a:blip r:embed="rId3">
            <a:alphaModFix/>
          </a:blip>
          <a:srcRect/>
          <a:stretch/>
        </p:blipFill>
        <p:spPr>
          <a:xfrm>
            <a:off x="10336212" y="258762"/>
            <a:ext cx="1154112" cy="1103312"/>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DEE91E-F9EB-B1A4-B806-70884F20AA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8DDFBB-453A-562B-BD8C-9F846F1B52AA}"/>
              </a:ext>
            </a:extLst>
          </p:cNvPr>
          <p:cNvSpPr>
            <a:spLocks noGrp="1"/>
          </p:cNvSpPr>
          <p:nvPr>
            <p:ph type="title"/>
          </p:nvPr>
        </p:nvSpPr>
        <p:spPr>
          <a:xfrm>
            <a:off x="1975104" y="365125"/>
            <a:ext cx="9378696" cy="1325563"/>
          </a:xfrm>
        </p:spPr>
        <p:txBody>
          <a:bodyPr/>
          <a:lstStyle/>
          <a:p>
            <a:r>
              <a:rPr lang="en-US" b="1" dirty="0">
                <a:latin typeface="Times New Roman" pitchFamily="18" charset="0"/>
                <a:cs typeface="Times New Roman" pitchFamily="18" charset="0"/>
              </a:rPr>
              <a:t>RESEARCH METHODOLOGY</a:t>
            </a:r>
          </a:p>
        </p:txBody>
      </p:sp>
      <p:sp>
        <p:nvSpPr>
          <p:cNvPr id="3" name="Content Placeholder 2">
            <a:extLst>
              <a:ext uri="{FF2B5EF4-FFF2-40B4-BE49-F238E27FC236}">
                <a16:creationId xmlns:a16="http://schemas.microsoft.com/office/drawing/2014/main" id="{BADFB8C7-350C-CEF6-B2F8-6D1BEFC882CA}"/>
              </a:ext>
            </a:extLst>
          </p:cNvPr>
          <p:cNvSpPr>
            <a:spLocks noGrp="1"/>
          </p:cNvSpPr>
          <p:nvPr>
            <p:ph idx="1"/>
          </p:nvPr>
        </p:nvSpPr>
        <p:spPr>
          <a:xfrm>
            <a:off x="1178668" y="1797051"/>
            <a:ext cx="10515600" cy="4114411"/>
          </a:xfrm>
        </p:spPr>
        <p:txBody>
          <a:bodyPr>
            <a:normAutofit/>
          </a:bodyPr>
          <a:lstStyle/>
          <a:p>
            <a:pPr marL="0" indent="0">
              <a:buNone/>
            </a:pPr>
            <a:r>
              <a:rPr lang="en-IN" sz="2400" b="1" dirty="0">
                <a:latin typeface="Times New Roman" panose="02020603050405020304" pitchFamily="18" charset="0"/>
                <a:cs typeface="Times New Roman" panose="02020603050405020304" pitchFamily="18" charset="0"/>
              </a:rPr>
              <a:t>Module 3: LLM-Based Speech Recognition (Gemma 2B)</a:t>
            </a:r>
          </a:p>
          <a:p>
            <a:pPr lvl="0"/>
            <a:r>
              <a:rPr lang="en-IN" sz="2400" dirty="0">
                <a:latin typeface="Times New Roman" panose="02020603050405020304" pitchFamily="18" charset="0"/>
                <a:cs typeface="Times New Roman" panose="02020603050405020304" pitchFamily="18" charset="0"/>
              </a:rPr>
              <a:t>Map audio tokens to the LLM vocabulary. </a:t>
            </a:r>
          </a:p>
          <a:p>
            <a:pPr lvl="0"/>
            <a:r>
              <a:rPr lang="en-IN" sz="2400" dirty="0">
                <a:latin typeface="Times New Roman" panose="02020603050405020304" pitchFamily="18" charset="0"/>
                <a:cs typeface="Times New Roman" panose="02020603050405020304" pitchFamily="18" charset="0"/>
              </a:rPr>
              <a:t>Use Gemma 2B to understand speech context. </a:t>
            </a:r>
          </a:p>
          <a:p>
            <a:pPr lvl="0"/>
            <a:r>
              <a:rPr lang="en-IN" sz="2400" dirty="0">
                <a:latin typeface="Times New Roman" panose="02020603050405020304" pitchFamily="18" charset="0"/>
                <a:cs typeface="Times New Roman" panose="02020603050405020304" pitchFamily="18" charset="0"/>
              </a:rPr>
              <a:t>Predict words and sentences accurately. </a:t>
            </a:r>
          </a:p>
          <a:p>
            <a:pPr marL="0" indent="0">
              <a:buNone/>
            </a:pPr>
            <a:r>
              <a:rPr lang="en-IN" sz="2400" b="1" dirty="0">
                <a:latin typeface="Times New Roman" panose="02020603050405020304" pitchFamily="18" charset="0"/>
                <a:cs typeface="Times New Roman" panose="02020603050405020304" pitchFamily="18" charset="0"/>
              </a:rPr>
              <a:t>Module 4: Fine-Tuning and Reinforcement Learning</a:t>
            </a:r>
          </a:p>
          <a:p>
            <a:pPr lvl="0"/>
            <a:r>
              <a:rPr lang="en-IN" sz="2400" dirty="0">
                <a:latin typeface="Times New Roman" panose="02020603050405020304" pitchFamily="18" charset="0"/>
                <a:cs typeface="Times New Roman" panose="02020603050405020304" pitchFamily="18" charset="0"/>
              </a:rPr>
              <a:t>Fine-tune the LLM using disordered speech datasets. </a:t>
            </a:r>
          </a:p>
          <a:p>
            <a:pPr lvl="0"/>
            <a:r>
              <a:rPr lang="en-IN" sz="2400" dirty="0">
                <a:latin typeface="Times New Roman" panose="02020603050405020304" pitchFamily="18" charset="0"/>
                <a:cs typeface="Times New Roman" panose="02020603050405020304" pitchFamily="18" charset="0"/>
              </a:rPr>
              <a:t>Apply Reinforcement Learning from Human Feedback (RLHF).  </a:t>
            </a:r>
          </a:p>
          <a:p>
            <a:pPr lvl="0"/>
            <a:r>
              <a:rPr lang="en-IN" sz="2400" dirty="0">
                <a:latin typeface="Times New Roman" panose="02020603050405020304" pitchFamily="18" charset="0"/>
                <a:cs typeface="Times New Roman" panose="02020603050405020304" pitchFamily="18" charset="0"/>
              </a:rPr>
              <a:t>Improve transcription quality and accuracy.</a:t>
            </a:r>
          </a:p>
          <a:p>
            <a:pPr>
              <a:lnSpc>
                <a:spcPct val="150000"/>
              </a:lnSpc>
              <a:buNone/>
            </a:pPr>
            <a:endParaRPr lang="en-US" dirty="0"/>
          </a:p>
        </p:txBody>
      </p:sp>
      <p:pic>
        <p:nvPicPr>
          <p:cNvPr id="4" name="Google Shape;289;p9">
            <a:extLst>
              <a:ext uri="{FF2B5EF4-FFF2-40B4-BE49-F238E27FC236}">
                <a16:creationId xmlns:a16="http://schemas.microsoft.com/office/drawing/2014/main" id="{3A98DE7A-90EF-B8B3-D78F-7B90446F4D94}"/>
              </a:ext>
            </a:extLst>
          </p:cNvPr>
          <p:cNvPicPr preferRelativeResize="0"/>
          <p:nvPr/>
        </p:nvPicPr>
        <p:blipFill rotWithShape="1">
          <a:blip r:embed="rId2">
            <a:alphaModFix/>
          </a:blip>
          <a:srcRect/>
          <a:stretch/>
        </p:blipFill>
        <p:spPr>
          <a:xfrm>
            <a:off x="402082" y="342328"/>
            <a:ext cx="1066800" cy="1057275"/>
          </a:xfrm>
          <a:prstGeom prst="rect">
            <a:avLst/>
          </a:prstGeom>
          <a:noFill/>
          <a:ln>
            <a:noFill/>
          </a:ln>
        </p:spPr>
      </p:pic>
      <p:pic>
        <p:nvPicPr>
          <p:cNvPr id="5" name="Google Shape;290;p9">
            <a:extLst>
              <a:ext uri="{FF2B5EF4-FFF2-40B4-BE49-F238E27FC236}">
                <a16:creationId xmlns:a16="http://schemas.microsoft.com/office/drawing/2014/main" id="{F64FC272-07AC-B65D-7E1B-CB409B791A6A}"/>
              </a:ext>
            </a:extLst>
          </p:cNvPr>
          <p:cNvPicPr preferRelativeResize="0"/>
          <p:nvPr/>
        </p:nvPicPr>
        <p:blipFill rotWithShape="1">
          <a:blip r:embed="rId3">
            <a:alphaModFix/>
          </a:blip>
          <a:srcRect/>
          <a:stretch/>
        </p:blipFill>
        <p:spPr>
          <a:xfrm>
            <a:off x="10336212" y="258762"/>
            <a:ext cx="1154112" cy="1103312"/>
          </a:xfrm>
          <a:prstGeom prst="rect">
            <a:avLst/>
          </a:prstGeom>
          <a:noFill/>
          <a:ln>
            <a:noFill/>
          </a:ln>
        </p:spPr>
      </p:pic>
    </p:spTree>
    <p:extLst>
      <p:ext uri="{BB962C8B-B14F-4D97-AF65-F5344CB8AC3E}">
        <p14:creationId xmlns:p14="http://schemas.microsoft.com/office/powerpoint/2010/main" val="28747539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EF90D5-5A21-FB96-10F4-9FE1AB2EE4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7321D0-406C-4916-FCEB-AAC1EF3B4DDD}"/>
              </a:ext>
            </a:extLst>
          </p:cNvPr>
          <p:cNvSpPr>
            <a:spLocks noGrp="1"/>
          </p:cNvSpPr>
          <p:nvPr>
            <p:ph type="title"/>
          </p:nvPr>
        </p:nvSpPr>
        <p:spPr>
          <a:xfrm>
            <a:off x="1975104" y="365125"/>
            <a:ext cx="9378696" cy="1325563"/>
          </a:xfrm>
        </p:spPr>
        <p:txBody>
          <a:bodyPr/>
          <a:lstStyle/>
          <a:p>
            <a:r>
              <a:rPr lang="en-US" b="1" dirty="0">
                <a:latin typeface="Times New Roman" pitchFamily="18" charset="0"/>
                <a:cs typeface="Times New Roman" pitchFamily="18" charset="0"/>
              </a:rPr>
              <a:t>RESEARCH METHODOLOGY</a:t>
            </a:r>
          </a:p>
        </p:txBody>
      </p:sp>
      <p:sp>
        <p:nvSpPr>
          <p:cNvPr id="3" name="Content Placeholder 2">
            <a:extLst>
              <a:ext uri="{FF2B5EF4-FFF2-40B4-BE49-F238E27FC236}">
                <a16:creationId xmlns:a16="http://schemas.microsoft.com/office/drawing/2014/main" id="{883A999B-A725-D70C-A467-4EC3A7107700}"/>
              </a:ext>
            </a:extLst>
          </p:cNvPr>
          <p:cNvSpPr>
            <a:spLocks noGrp="1"/>
          </p:cNvSpPr>
          <p:nvPr>
            <p:ph idx="1"/>
          </p:nvPr>
        </p:nvSpPr>
        <p:spPr>
          <a:xfrm>
            <a:off x="1139757" y="2018684"/>
            <a:ext cx="10515600" cy="2820632"/>
          </a:xfrm>
        </p:spPr>
        <p:txBody>
          <a:bodyPr>
            <a:normAutofit/>
          </a:bodyPr>
          <a:lstStyle/>
          <a:p>
            <a:pPr marL="0" indent="0">
              <a:buNone/>
            </a:pPr>
            <a:r>
              <a:rPr lang="en-IN" sz="2400" b="1" dirty="0">
                <a:latin typeface="Times New Roman" panose="02020603050405020304" pitchFamily="18" charset="0"/>
                <a:cs typeface="Times New Roman" panose="02020603050405020304" pitchFamily="18" charset="0"/>
              </a:rPr>
              <a:t>Module 5: Transcription Output and Evaluation</a:t>
            </a:r>
          </a:p>
          <a:p>
            <a:pPr lvl="0"/>
            <a:r>
              <a:rPr lang="en-IN" sz="2400" dirty="0">
                <a:latin typeface="Times New Roman" panose="02020603050405020304" pitchFamily="18" charset="0"/>
                <a:cs typeface="Times New Roman" panose="02020603050405020304" pitchFamily="18" charset="0"/>
              </a:rPr>
              <a:t>Display the final text transcription. </a:t>
            </a:r>
          </a:p>
          <a:p>
            <a:pPr lvl="0"/>
            <a:r>
              <a:rPr lang="en-IN" sz="2400" dirty="0">
                <a:latin typeface="Times New Roman" panose="02020603050405020304" pitchFamily="18" charset="0"/>
                <a:cs typeface="Times New Roman" panose="02020603050405020304" pitchFamily="18" charset="0"/>
              </a:rPr>
              <a:t>Compare output with reference transcripts. </a:t>
            </a:r>
          </a:p>
          <a:p>
            <a:pPr lvl="0"/>
            <a:r>
              <a:rPr lang="en-IN" sz="2400" dirty="0">
                <a:latin typeface="Times New Roman" panose="02020603050405020304" pitchFamily="18" charset="0"/>
                <a:cs typeface="Times New Roman" panose="02020603050405020304" pitchFamily="18" charset="0"/>
              </a:rPr>
              <a:t>Store results for analysis and improvement.</a:t>
            </a:r>
          </a:p>
          <a:p>
            <a:pPr>
              <a:lnSpc>
                <a:spcPct val="150000"/>
              </a:lnSpc>
              <a:buNone/>
            </a:pPr>
            <a:endParaRPr lang="en-US" dirty="0"/>
          </a:p>
        </p:txBody>
      </p:sp>
      <p:pic>
        <p:nvPicPr>
          <p:cNvPr id="4" name="Google Shape;289;p9">
            <a:extLst>
              <a:ext uri="{FF2B5EF4-FFF2-40B4-BE49-F238E27FC236}">
                <a16:creationId xmlns:a16="http://schemas.microsoft.com/office/drawing/2014/main" id="{1DC283F3-6A40-4CAF-DC90-AC6978FBC9DC}"/>
              </a:ext>
            </a:extLst>
          </p:cNvPr>
          <p:cNvPicPr preferRelativeResize="0"/>
          <p:nvPr/>
        </p:nvPicPr>
        <p:blipFill rotWithShape="1">
          <a:blip r:embed="rId2">
            <a:alphaModFix/>
          </a:blip>
          <a:srcRect/>
          <a:stretch/>
        </p:blipFill>
        <p:spPr>
          <a:xfrm>
            <a:off x="402082" y="342328"/>
            <a:ext cx="1066800" cy="1057275"/>
          </a:xfrm>
          <a:prstGeom prst="rect">
            <a:avLst/>
          </a:prstGeom>
          <a:noFill/>
          <a:ln>
            <a:noFill/>
          </a:ln>
        </p:spPr>
      </p:pic>
      <p:pic>
        <p:nvPicPr>
          <p:cNvPr id="5" name="Google Shape;290;p9">
            <a:extLst>
              <a:ext uri="{FF2B5EF4-FFF2-40B4-BE49-F238E27FC236}">
                <a16:creationId xmlns:a16="http://schemas.microsoft.com/office/drawing/2014/main" id="{0304E9C4-B5DC-81B6-F405-9BD4F9C59E00}"/>
              </a:ext>
            </a:extLst>
          </p:cNvPr>
          <p:cNvPicPr preferRelativeResize="0"/>
          <p:nvPr/>
        </p:nvPicPr>
        <p:blipFill rotWithShape="1">
          <a:blip r:embed="rId3">
            <a:alphaModFix/>
          </a:blip>
          <a:srcRect/>
          <a:stretch/>
        </p:blipFill>
        <p:spPr>
          <a:xfrm>
            <a:off x="10336212" y="258762"/>
            <a:ext cx="1154112" cy="1103312"/>
          </a:xfrm>
          <a:prstGeom prst="rect">
            <a:avLst/>
          </a:prstGeom>
          <a:noFill/>
          <a:ln>
            <a:noFill/>
          </a:ln>
        </p:spPr>
      </p:pic>
    </p:spTree>
    <p:extLst>
      <p:ext uri="{BB962C8B-B14F-4D97-AF65-F5344CB8AC3E}">
        <p14:creationId xmlns:p14="http://schemas.microsoft.com/office/powerpoint/2010/main" val="2266566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F5D080-9A75-0D26-5016-28E3501F01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2DBDB2-C1FA-255E-9479-467849BB0762}"/>
              </a:ext>
            </a:extLst>
          </p:cNvPr>
          <p:cNvSpPr>
            <a:spLocks noGrp="1"/>
          </p:cNvSpPr>
          <p:nvPr>
            <p:ph type="ctrTitle"/>
          </p:nvPr>
        </p:nvSpPr>
        <p:spPr>
          <a:xfrm>
            <a:off x="3382701" y="258762"/>
            <a:ext cx="5426598" cy="778337"/>
          </a:xfrm>
        </p:spPr>
        <p:txBody>
          <a:bodyPr>
            <a:noAutofit/>
          </a:bodyPr>
          <a:lstStyle/>
          <a:p>
            <a:r>
              <a:rPr lang="en-IN" sz="4200" b="1" dirty="0">
                <a:latin typeface="Times New Roman" panose="02020603050405020304" pitchFamily="18" charset="0"/>
                <a:cs typeface="Times New Roman" panose="02020603050405020304" pitchFamily="18" charset="0"/>
              </a:rPr>
              <a:t>EXISTING SYSTEM</a:t>
            </a:r>
          </a:p>
        </p:txBody>
      </p:sp>
      <p:sp>
        <p:nvSpPr>
          <p:cNvPr id="4" name="TextBox 3">
            <a:extLst>
              <a:ext uri="{FF2B5EF4-FFF2-40B4-BE49-F238E27FC236}">
                <a16:creationId xmlns:a16="http://schemas.microsoft.com/office/drawing/2014/main" id="{55F9A089-08A8-7FB6-D6E1-4C26C3820264}"/>
              </a:ext>
            </a:extLst>
          </p:cNvPr>
          <p:cNvSpPr txBox="1"/>
          <p:nvPr/>
        </p:nvSpPr>
        <p:spPr>
          <a:xfrm>
            <a:off x="1379357" y="1652122"/>
            <a:ext cx="6908610" cy="2795958"/>
          </a:xfrm>
          <a:prstGeom prst="rect">
            <a:avLst/>
          </a:prstGeom>
          <a:noFill/>
        </p:spPr>
        <p:txBody>
          <a:bodyPr wrap="square">
            <a:spAutoFit/>
          </a:bodyPr>
          <a:lstStyle/>
          <a:p>
            <a:pPr marL="342900" lvl="0" indent="-342900">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Focuses mainly on normal speech. </a:t>
            </a:r>
          </a:p>
          <a:p>
            <a:pPr marL="342900" lvl="0" indent="-342900">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Relies heavily on WER evaluation. </a:t>
            </a:r>
          </a:p>
          <a:p>
            <a:pPr marL="342900" lvl="0" indent="-342900">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Struggles with disordered speech. </a:t>
            </a:r>
          </a:p>
          <a:p>
            <a:pPr marL="342900" lvl="0" indent="-342900">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Often requires architecture changes. </a:t>
            </a:r>
          </a:p>
          <a:p>
            <a:pPr marL="342900" lvl="0" indent="-342900">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Shows limited domain adaptation. </a:t>
            </a:r>
          </a:p>
        </p:txBody>
      </p:sp>
      <p:pic>
        <p:nvPicPr>
          <p:cNvPr id="5" name="Google Shape;289;p9"/>
          <p:cNvPicPr preferRelativeResize="0"/>
          <p:nvPr/>
        </p:nvPicPr>
        <p:blipFill rotWithShape="1">
          <a:blip r:embed="rId2">
            <a:alphaModFix/>
          </a:blip>
          <a:srcRect/>
          <a:stretch/>
        </p:blipFill>
        <p:spPr>
          <a:xfrm>
            <a:off x="484378" y="406336"/>
            <a:ext cx="1066800" cy="1057275"/>
          </a:xfrm>
          <a:prstGeom prst="rect">
            <a:avLst/>
          </a:prstGeom>
          <a:noFill/>
          <a:ln>
            <a:noFill/>
          </a:ln>
        </p:spPr>
      </p:pic>
      <p:pic>
        <p:nvPicPr>
          <p:cNvPr id="6" name="Google Shape;290;p9"/>
          <p:cNvPicPr preferRelativeResize="0"/>
          <p:nvPr/>
        </p:nvPicPr>
        <p:blipFill rotWithShape="1">
          <a:blip r:embed="rId3">
            <a:alphaModFix/>
          </a:blip>
          <a:srcRect/>
          <a:stretch/>
        </p:blipFill>
        <p:spPr>
          <a:xfrm>
            <a:off x="10336212" y="258762"/>
            <a:ext cx="1154112" cy="1103312"/>
          </a:xfrm>
          <a:prstGeom prst="rect">
            <a:avLst/>
          </a:prstGeom>
          <a:noFill/>
          <a:ln>
            <a:noFill/>
          </a:ln>
        </p:spPr>
      </p:pic>
    </p:spTree>
    <p:extLst>
      <p:ext uri="{BB962C8B-B14F-4D97-AF65-F5344CB8AC3E}">
        <p14:creationId xmlns:p14="http://schemas.microsoft.com/office/powerpoint/2010/main" val="11206109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59CDCB-717C-6149-A471-6ED0B3F7CD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F15235-9FDB-5404-07CF-C2DD7C2B492E}"/>
              </a:ext>
            </a:extLst>
          </p:cNvPr>
          <p:cNvSpPr>
            <a:spLocks noGrp="1"/>
          </p:cNvSpPr>
          <p:nvPr>
            <p:ph type="ctrTitle"/>
          </p:nvPr>
        </p:nvSpPr>
        <p:spPr>
          <a:xfrm>
            <a:off x="3382701" y="383095"/>
            <a:ext cx="5426598" cy="778337"/>
          </a:xfrm>
        </p:spPr>
        <p:txBody>
          <a:bodyPr>
            <a:noAutofit/>
          </a:bodyPr>
          <a:lstStyle/>
          <a:p>
            <a:r>
              <a:rPr lang="en-IN" sz="4200" b="1" dirty="0">
                <a:latin typeface="Times New Roman" panose="02020603050405020304" pitchFamily="18" charset="0"/>
                <a:cs typeface="Times New Roman" panose="02020603050405020304" pitchFamily="18" charset="0"/>
              </a:rPr>
              <a:t>PROPOSED SYSTEM</a:t>
            </a:r>
          </a:p>
        </p:txBody>
      </p:sp>
      <p:sp>
        <p:nvSpPr>
          <p:cNvPr id="4" name="TextBox 3">
            <a:extLst>
              <a:ext uri="{FF2B5EF4-FFF2-40B4-BE49-F238E27FC236}">
                <a16:creationId xmlns:a16="http://schemas.microsoft.com/office/drawing/2014/main" id="{A614075D-225E-AFB8-9290-AECCA9EEBBA4}"/>
              </a:ext>
            </a:extLst>
          </p:cNvPr>
          <p:cNvSpPr txBox="1"/>
          <p:nvPr/>
        </p:nvSpPr>
        <p:spPr>
          <a:xfrm>
            <a:off x="931638" y="1658923"/>
            <a:ext cx="7113136" cy="2795958"/>
          </a:xfrm>
          <a:prstGeom prst="rect">
            <a:avLst/>
          </a:prstGeom>
          <a:noFill/>
        </p:spPr>
        <p:txBody>
          <a:bodyPr wrap="square">
            <a:spAutoFit/>
          </a:bodyPr>
          <a:lstStyle/>
          <a:p>
            <a:pPr marL="342900" lvl="0" indent="-342900">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Uses Gemma 2B as the base model. </a:t>
            </a:r>
          </a:p>
          <a:p>
            <a:pPr marL="342900" lvl="0" indent="-342900">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Maps audio tokens into the LLM vocabulary. </a:t>
            </a:r>
          </a:p>
          <a:p>
            <a:pPr marL="342900" lvl="0" indent="-342900">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Retains the original LLM architecture. </a:t>
            </a:r>
          </a:p>
          <a:p>
            <a:pPr marL="342900" lvl="0" indent="-342900">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Applies RLHF with WER and MP rewards. </a:t>
            </a:r>
          </a:p>
          <a:p>
            <a:pPr marL="342900" lvl="0" indent="-342900">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Improves disordered speech recognition.</a:t>
            </a:r>
          </a:p>
        </p:txBody>
      </p:sp>
      <p:pic>
        <p:nvPicPr>
          <p:cNvPr id="5" name="Google Shape;289;p9"/>
          <p:cNvPicPr preferRelativeResize="0"/>
          <p:nvPr/>
        </p:nvPicPr>
        <p:blipFill rotWithShape="1">
          <a:blip r:embed="rId2">
            <a:alphaModFix/>
          </a:blip>
          <a:srcRect/>
          <a:stretch/>
        </p:blipFill>
        <p:spPr>
          <a:xfrm>
            <a:off x="594106" y="360616"/>
            <a:ext cx="1066800" cy="1057275"/>
          </a:xfrm>
          <a:prstGeom prst="rect">
            <a:avLst/>
          </a:prstGeom>
          <a:noFill/>
          <a:ln>
            <a:noFill/>
          </a:ln>
        </p:spPr>
      </p:pic>
      <p:pic>
        <p:nvPicPr>
          <p:cNvPr id="6" name="Google Shape;290;p9"/>
          <p:cNvPicPr preferRelativeResize="0"/>
          <p:nvPr/>
        </p:nvPicPr>
        <p:blipFill rotWithShape="1">
          <a:blip r:embed="rId3">
            <a:alphaModFix/>
          </a:blip>
          <a:srcRect/>
          <a:stretch/>
        </p:blipFill>
        <p:spPr>
          <a:xfrm>
            <a:off x="10336212" y="258762"/>
            <a:ext cx="1154112" cy="1103312"/>
          </a:xfrm>
          <a:prstGeom prst="rect">
            <a:avLst/>
          </a:prstGeom>
          <a:noFill/>
          <a:ln>
            <a:noFill/>
          </a:ln>
        </p:spPr>
      </p:pic>
    </p:spTree>
    <p:extLst>
      <p:ext uri="{BB962C8B-B14F-4D97-AF65-F5344CB8AC3E}">
        <p14:creationId xmlns:p14="http://schemas.microsoft.com/office/powerpoint/2010/main" val="6229821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AF5C0C-1CF5-C9F7-31CC-C364C62A3B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B0E1EF-950F-EA1D-B0E1-DE0538733653}"/>
              </a:ext>
            </a:extLst>
          </p:cNvPr>
          <p:cNvSpPr>
            <a:spLocks noGrp="1"/>
          </p:cNvSpPr>
          <p:nvPr>
            <p:ph type="ctrTitle"/>
          </p:nvPr>
        </p:nvSpPr>
        <p:spPr>
          <a:xfrm>
            <a:off x="3382701" y="0"/>
            <a:ext cx="5426598" cy="778337"/>
          </a:xfrm>
        </p:spPr>
        <p:txBody>
          <a:bodyPr>
            <a:noAutofit/>
          </a:bodyPr>
          <a:lstStyle/>
          <a:p>
            <a:r>
              <a:rPr lang="en-IN" sz="4200" b="1" dirty="0">
                <a:latin typeface="Times New Roman" panose="02020603050405020304" pitchFamily="18" charset="0"/>
                <a:cs typeface="Times New Roman" panose="02020603050405020304" pitchFamily="18" charset="0"/>
              </a:rPr>
              <a:t>CONCLUSION</a:t>
            </a:r>
          </a:p>
        </p:txBody>
      </p:sp>
      <p:sp>
        <p:nvSpPr>
          <p:cNvPr id="4" name="TextBox 3">
            <a:extLst>
              <a:ext uri="{FF2B5EF4-FFF2-40B4-BE49-F238E27FC236}">
                <a16:creationId xmlns:a16="http://schemas.microsoft.com/office/drawing/2014/main" id="{B059345A-DA55-D6BE-EF13-CED11649FBDB}"/>
              </a:ext>
            </a:extLst>
          </p:cNvPr>
          <p:cNvSpPr txBox="1"/>
          <p:nvPr/>
        </p:nvSpPr>
        <p:spPr>
          <a:xfrm>
            <a:off x="1042958" y="1362074"/>
            <a:ext cx="7342285" cy="3174395"/>
          </a:xfrm>
          <a:prstGeom prst="rect">
            <a:avLst/>
          </a:prstGeom>
          <a:noFill/>
        </p:spPr>
        <p:txBody>
          <a:bodyPr wrap="square">
            <a:spAutoFit/>
          </a:bodyPr>
          <a:lstStyle/>
          <a:p>
            <a:endParaRPr lang="en-US" sz="2400" b="1" dirty="0"/>
          </a:p>
          <a:p>
            <a:pPr marL="342900" lvl="0" indent="-342900">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LLMs can perform speech recognition. </a:t>
            </a:r>
          </a:p>
          <a:p>
            <a:pPr marL="342900" lvl="0" indent="-342900">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Audio tokens integrate effectively with LLMs. </a:t>
            </a:r>
          </a:p>
          <a:p>
            <a:pPr marL="342900" lvl="0" indent="-342900">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RLHF improves adaptation performance. </a:t>
            </a:r>
          </a:p>
          <a:p>
            <a:pPr marL="342900" lvl="0" indent="-342900">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Meaning preservation enhances transcript quality. </a:t>
            </a:r>
          </a:p>
          <a:p>
            <a:pPr marL="342900" lvl="0" indent="-342900">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RLHF outperforms standard fine-tuning</a:t>
            </a:r>
            <a:r>
              <a:rPr lang="en-IN" sz="2400" dirty="0"/>
              <a:t>. </a:t>
            </a:r>
          </a:p>
        </p:txBody>
      </p:sp>
      <p:pic>
        <p:nvPicPr>
          <p:cNvPr id="5" name="Google Shape;289;p9"/>
          <p:cNvPicPr preferRelativeResize="0"/>
          <p:nvPr/>
        </p:nvPicPr>
        <p:blipFill rotWithShape="1">
          <a:blip r:embed="rId2">
            <a:alphaModFix/>
          </a:blip>
          <a:srcRect/>
          <a:stretch/>
        </p:blipFill>
        <p:spPr>
          <a:xfrm>
            <a:off x="685546" y="342328"/>
            <a:ext cx="1066800" cy="1057275"/>
          </a:xfrm>
          <a:prstGeom prst="rect">
            <a:avLst/>
          </a:prstGeom>
          <a:noFill/>
          <a:ln>
            <a:noFill/>
          </a:ln>
        </p:spPr>
      </p:pic>
      <p:pic>
        <p:nvPicPr>
          <p:cNvPr id="6" name="Google Shape;290;p9"/>
          <p:cNvPicPr preferRelativeResize="0"/>
          <p:nvPr/>
        </p:nvPicPr>
        <p:blipFill rotWithShape="1">
          <a:blip r:embed="rId3">
            <a:alphaModFix/>
          </a:blip>
          <a:srcRect/>
          <a:stretch/>
        </p:blipFill>
        <p:spPr>
          <a:xfrm>
            <a:off x="10336212" y="258762"/>
            <a:ext cx="1154112" cy="1103312"/>
          </a:xfrm>
          <a:prstGeom prst="rect">
            <a:avLst/>
          </a:prstGeom>
          <a:noFill/>
          <a:ln>
            <a:noFill/>
          </a:ln>
        </p:spPr>
      </p:pic>
    </p:spTree>
    <p:extLst>
      <p:ext uri="{BB962C8B-B14F-4D97-AF65-F5344CB8AC3E}">
        <p14:creationId xmlns:p14="http://schemas.microsoft.com/office/powerpoint/2010/main" val="14749013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6D3D76-8DCF-776A-C22C-39D8ADCBEC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7ECF70-F9B6-D783-3F3A-2C796A18EF2B}"/>
              </a:ext>
            </a:extLst>
          </p:cNvPr>
          <p:cNvSpPr>
            <a:spLocks noGrp="1"/>
          </p:cNvSpPr>
          <p:nvPr>
            <p:ph type="ctrTitle"/>
          </p:nvPr>
        </p:nvSpPr>
        <p:spPr>
          <a:xfrm>
            <a:off x="2611538" y="0"/>
            <a:ext cx="6968924" cy="778337"/>
          </a:xfrm>
        </p:spPr>
        <p:txBody>
          <a:bodyPr>
            <a:noAutofit/>
          </a:bodyPr>
          <a:lstStyle/>
          <a:p>
            <a:r>
              <a:rPr lang="en-IN" sz="4200" b="1" dirty="0">
                <a:latin typeface="Times New Roman" panose="02020603050405020304" pitchFamily="18" charset="0"/>
                <a:cs typeface="Times New Roman" panose="02020603050405020304" pitchFamily="18" charset="0"/>
              </a:rPr>
              <a:t>FUTURE ENHANCEMENT</a:t>
            </a:r>
          </a:p>
        </p:txBody>
      </p:sp>
      <p:sp>
        <p:nvSpPr>
          <p:cNvPr id="4" name="TextBox 3">
            <a:extLst>
              <a:ext uri="{FF2B5EF4-FFF2-40B4-BE49-F238E27FC236}">
                <a16:creationId xmlns:a16="http://schemas.microsoft.com/office/drawing/2014/main" id="{67D97A12-39F6-1BFC-1747-12F584771B10}"/>
              </a:ext>
            </a:extLst>
          </p:cNvPr>
          <p:cNvSpPr txBox="1"/>
          <p:nvPr/>
        </p:nvSpPr>
        <p:spPr>
          <a:xfrm>
            <a:off x="1323178" y="1851983"/>
            <a:ext cx="6094070" cy="2805063"/>
          </a:xfrm>
          <a:prstGeom prst="rect">
            <a:avLst/>
          </a:prstGeom>
          <a:noFill/>
        </p:spPr>
        <p:txBody>
          <a:bodyPr wrap="square">
            <a:spAutoFit/>
          </a:bodyPr>
          <a:lstStyle/>
          <a:p>
            <a:pPr marL="342900" lvl="0" indent="-342900">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Use larger LLM models. </a:t>
            </a:r>
          </a:p>
          <a:p>
            <a:pPr marL="342900" lvl="0" indent="-342900">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Support multiple languages. </a:t>
            </a:r>
          </a:p>
          <a:p>
            <a:pPr marL="342900" lvl="0" indent="-342900">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Improve audio tokenization methods. </a:t>
            </a:r>
          </a:p>
          <a:p>
            <a:pPr marL="342900" lvl="0" indent="-342900">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Combine additional reward signals. </a:t>
            </a:r>
          </a:p>
          <a:p>
            <a:pPr marL="342900" lvl="0" indent="-342900">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Enhance performance for severe disorders. </a:t>
            </a:r>
          </a:p>
        </p:txBody>
      </p:sp>
      <p:pic>
        <p:nvPicPr>
          <p:cNvPr id="5" name="Google Shape;289;p9"/>
          <p:cNvPicPr preferRelativeResize="0"/>
          <p:nvPr/>
        </p:nvPicPr>
        <p:blipFill rotWithShape="1">
          <a:blip r:embed="rId2">
            <a:alphaModFix/>
          </a:blip>
          <a:srcRect/>
          <a:stretch/>
        </p:blipFill>
        <p:spPr>
          <a:xfrm>
            <a:off x="557530" y="250888"/>
            <a:ext cx="1066800" cy="1057275"/>
          </a:xfrm>
          <a:prstGeom prst="rect">
            <a:avLst/>
          </a:prstGeom>
          <a:noFill/>
          <a:ln>
            <a:noFill/>
          </a:ln>
        </p:spPr>
      </p:pic>
      <p:pic>
        <p:nvPicPr>
          <p:cNvPr id="6" name="Google Shape;290;p9"/>
          <p:cNvPicPr preferRelativeResize="0"/>
          <p:nvPr/>
        </p:nvPicPr>
        <p:blipFill rotWithShape="1">
          <a:blip r:embed="rId3">
            <a:alphaModFix/>
          </a:blip>
          <a:srcRect/>
          <a:stretch/>
        </p:blipFill>
        <p:spPr>
          <a:xfrm>
            <a:off x="10336212" y="258762"/>
            <a:ext cx="1154112" cy="1103312"/>
          </a:xfrm>
          <a:prstGeom prst="rect">
            <a:avLst/>
          </a:prstGeom>
          <a:noFill/>
          <a:ln>
            <a:noFill/>
          </a:ln>
        </p:spPr>
      </p:pic>
    </p:spTree>
    <p:extLst>
      <p:ext uri="{BB962C8B-B14F-4D97-AF65-F5344CB8AC3E}">
        <p14:creationId xmlns:p14="http://schemas.microsoft.com/office/powerpoint/2010/main" val="15127408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D5527E-86F4-3698-4823-5563CC9BCF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DD61BA-8BF8-B9B8-59FE-C305F128CD4A}"/>
              </a:ext>
            </a:extLst>
          </p:cNvPr>
          <p:cNvSpPr>
            <a:spLocks noGrp="1"/>
          </p:cNvSpPr>
          <p:nvPr>
            <p:ph type="ctrTitle"/>
          </p:nvPr>
        </p:nvSpPr>
        <p:spPr>
          <a:xfrm>
            <a:off x="2611538" y="2558005"/>
            <a:ext cx="6968924" cy="778337"/>
          </a:xfrm>
        </p:spPr>
        <p:txBody>
          <a:bodyPr>
            <a:noAutofit/>
          </a:bodyPr>
          <a:lstStyle/>
          <a:p>
            <a:r>
              <a:rPr lang="en-US" b="1" dirty="0">
                <a:latin typeface="Times New Roman" panose="02020603050405020304" pitchFamily="18" charset="0"/>
                <a:cs typeface="Times New Roman" panose="02020603050405020304" pitchFamily="18" charset="0"/>
              </a:rPr>
              <a:t>THANK YOU</a:t>
            </a:r>
            <a:endParaRPr lang="en-IN" b="1" dirty="0">
              <a:latin typeface="Times New Roman" panose="02020603050405020304" pitchFamily="18" charset="0"/>
              <a:cs typeface="Times New Roman" panose="02020603050405020304" pitchFamily="18" charset="0"/>
            </a:endParaRPr>
          </a:p>
        </p:txBody>
      </p:sp>
      <p:pic>
        <p:nvPicPr>
          <p:cNvPr id="3" name="Google Shape;289;p9"/>
          <p:cNvPicPr preferRelativeResize="0"/>
          <p:nvPr/>
        </p:nvPicPr>
        <p:blipFill rotWithShape="1">
          <a:blip r:embed="rId2">
            <a:alphaModFix/>
          </a:blip>
          <a:srcRect/>
          <a:stretch/>
        </p:blipFill>
        <p:spPr>
          <a:xfrm>
            <a:off x="658114" y="442912"/>
            <a:ext cx="1066800" cy="1057275"/>
          </a:xfrm>
          <a:prstGeom prst="rect">
            <a:avLst/>
          </a:prstGeom>
          <a:noFill/>
          <a:ln>
            <a:noFill/>
          </a:ln>
        </p:spPr>
      </p:pic>
      <p:pic>
        <p:nvPicPr>
          <p:cNvPr id="4" name="Google Shape;290;p9"/>
          <p:cNvPicPr preferRelativeResize="0"/>
          <p:nvPr/>
        </p:nvPicPr>
        <p:blipFill rotWithShape="1">
          <a:blip r:embed="rId3">
            <a:alphaModFix/>
          </a:blip>
          <a:srcRect/>
          <a:stretch/>
        </p:blipFill>
        <p:spPr>
          <a:xfrm>
            <a:off x="10336212" y="240474"/>
            <a:ext cx="1154112" cy="1103312"/>
          </a:xfrm>
          <a:prstGeom prst="rect">
            <a:avLst/>
          </a:prstGeom>
          <a:noFill/>
          <a:ln>
            <a:noFill/>
          </a:ln>
        </p:spPr>
      </p:pic>
    </p:spTree>
    <p:extLst>
      <p:ext uri="{BB962C8B-B14F-4D97-AF65-F5344CB8AC3E}">
        <p14:creationId xmlns:p14="http://schemas.microsoft.com/office/powerpoint/2010/main" val="39652424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116</TotalTime>
  <Words>485</Words>
  <Application>Microsoft Office PowerPoint</Application>
  <PresentationFormat>Widescreen</PresentationFormat>
  <Paragraphs>68</Paragraphs>
  <Slides>13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Calibri Light</vt:lpstr>
      <vt:lpstr>Times New Roman</vt:lpstr>
      <vt:lpstr>Office Theme</vt:lpstr>
      <vt:lpstr> SPEECH RECOGNITION WITH LLMS ADAPTED TO DISORDERED SPEECH USING REINFORCEMENT LEARNING</vt:lpstr>
      <vt:lpstr>ABSTRACT</vt:lpstr>
      <vt:lpstr>OBJECTIVE</vt:lpstr>
      <vt:lpstr>ARCHITECTURE DIAGRAM</vt:lpstr>
      <vt:lpstr>      LITERATURE SURVEY </vt:lpstr>
      <vt:lpstr>RESEARCH METHODOLOGY</vt:lpstr>
      <vt:lpstr>RESEARCH METHODOLOGY</vt:lpstr>
      <vt:lpstr>RESEARCH METHODOLOGY</vt:lpstr>
      <vt:lpstr>EXISTING SYSTEM</vt:lpstr>
      <vt:lpstr>PROPOSED SYSTEM</vt:lpstr>
      <vt:lpstr>CONCLUSION</vt:lpstr>
      <vt:lpstr>FUTURE ENHANCEMENT</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CYBERCORTEX.AI: AN AI-BASED OPERATING SYSTEM FOR AUTONOMOUS ROBOTICS AND COMPLEX AUTOMATION.</dc:title>
  <dc:creator>ARULHARI S</dc:creator>
  <cp:lastModifiedBy>Aswathi Sambasivam</cp:lastModifiedBy>
  <cp:revision>10</cp:revision>
  <dcterms:created xsi:type="dcterms:W3CDTF">2026-08-05T15:29:05Z</dcterms:created>
  <dcterms:modified xsi:type="dcterms:W3CDTF">2026-10-05T09:42:22Z</dcterms:modified>
</cp:coreProperties>
</file>